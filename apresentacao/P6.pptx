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slide+xml" PartName="/ppt/slides/slide14.xml"/>
  <Override ContentType="application/vnd.openxmlformats-officedocument.presentationml.slide+xml" PartName="/ppt/slides/slide15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</p:sldIdLst>
  <p:sldSz cx="18288000" cy="10287000"/>
  <p:notesSz cx="6858000" cy="9144000"/>
  <p:embeddedFontLst>
    <p:embeddedFont>
      <p:font typeface="Neue Machina" charset="1" panose="00000500000000000000"/>
      <p:regular r:id="rId21"/>
    </p:embeddedFont>
    <p:embeddedFont>
      <p:font typeface="Neue Machina Ultra-Bold" charset="1" panose="00000900000000000000"/>
      <p:regular r:id="rId22"/>
    </p:embeddedFont>
    <p:embeddedFont>
      <p:font typeface="Open Sans 1" charset="1" panose="00000000000000000000"/>
      <p:regular r:id="rId23"/>
    </p:embeddedFont>
    <p:embeddedFont>
      <p:font typeface="Open Sans 2" charset="1" panose="020B0606030504020204"/>
      <p:regular r:id="rId24"/>
    </p:embeddedFont>
    <p:embeddedFont>
      <p:font typeface="Neue Machina Light" charset="1" panose="00000400000000000000"/>
      <p:regular r:id="rId25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slides/slide13.xml" Type="http://schemas.openxmlformats.org/officeDocument/2006/relationships/slide"/><Relationship Id="rId19" Target="slides/slide14.xml" Type="http://schemas.openxmlformats.org/officeDocument/2006/relationships/slide"/><Relationship Id="rId2" Target="presProps.xml" Type="http://schemas.openxmlformats.org/officeDocument/2006/relationships/presProps"/><Relationship Id="rId20" Target="slides/slide15.xml" Type="http://schemas.openxmlformats.org/officeDocument/2006/relationships/slide"/><Relationship Id="rId21" Target="fonts/font21.fntdata" Type="http://schemas.openxmlformats.org/officeDocument/2006/relationships/font"/><Relationship Id="rId22" Target="fonts/font22.fntdata" Type="http://schemas.openxmlformats.org/officeDocument/2006/relationships/font"/><Relationship Id="rId23" Target="fonts/font23.fntdata" Type="http://schemas.openxmlformats.org/officeDocument/2006/relationships/font"/><Relationship Id="rId24" Target="fonts/font24.fntdata" Type="http://schemas.openxmlformats.org/officeDocument/2006/relationships/font"/><Relationship Id="rId25" Target="fonts/font25.fntdata" Type="http://schemas.openxmlformats.org/officeDocument/2006/relationships/font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jpeg" Type="http://schemas.openxmlformats.org/officeDocument/2006/relationships/image"/><Relationship Id="rId3" Target="../media/image3.pn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jpeg" Type="http://schemas.openxmlformats.org/officeDocument/2006/relationships/image"/><Relationship Id="rId3" Target="../media/image5.png" Type="http://schemas.openxmlformats.org/officeDocument/2006/relationships/image"/><Relationship Id="rId4" Target="../media/image6.pn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jpeg" Type="http://schemas.openxmlformats.org/officeDocument/2006/relationships/image"/><Relationship Id="rId3" Target="../media/image7.png" Type="http://schemas.openxmlformats.org/officeDocument/2006/relationships/image"/><Relationship Id="rId4" Target="../media/image8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jpeg" Type="http://schemas.openxmlformats.org/officeDocument/2006/relationships/image"/><Relationship Id="rId3" Target="../media/image9.png" Type="http://schemas.openxmlformats.org/officeDocument/2006/relationships/image"/><Relationship Id="rId4" Target="../media/image10.png" Type="http://schemas.openxmlformats.org/officeDocument/2006/relationships/image"/><Relationship Id="rId5" Target="../media/image11.png" Type="http://schemas.openxmlformats.org/officeDocument/2006/relationships/image"/><Relationship Id="rId6" Target="../media/image12.png" Type="http://schemas.openxmlformats.org/officeDocument/2006/relationships/image"/><Relationship Id="rId7" Target="../media/image13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jpe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jpeg" Type="http://schemas.openxmlformats.org/officeDocument/2006/relationships/image"/><Relationship Id="rId3" Target="../media/image14.png" Type="http://schemas.openxmlformats.org/officeDocument/2006/relationships/image"/><Relationship Id="rId4" Target="../media/image15.sv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jpe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jpeg" Type="http://schemas.openxmlformats.org/officeDocument/2006/relationships/image"/><Relationship Id="rId3" Target="../media/image16.pn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jpeg" Type="http://schemas.openxmlformats.org/officeDocument/2006/relationships/image"/><Relationship Id="rId3" Target="../media/image17.pn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jpeg" Type="http://schemas.openxmlformats.org/officeDocument/2006/relationships/image"/><Relationship Id="rId3" Target="../media/image18.png" Type="http://schemas.openxmlformats.org/officeDocument/2006/relationships/image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jpeg" Type="http://schemas.openxmlformats.org/officeDocument/2006/relationships/image"/><Relationship Id="rId3" Target="../media/image19.png" Type="http://schemas.openxmlformats.org/officeDocument/2006/relationships/image"/><Relationship Id="rId4" Target="../media/image20.png" Type="http://schemas.openxmlformats.org/officeDocument/2006/relationships/image"/><Relationship Id="rId5" Target="../media/image21.png" Type="http://schemas.openxmlformats.org/officeDocument/2006/relationships/image"/></Relationships>
</file>

<file path=ppt/slides/_rels/slide1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jpeg" Type="http://schemas.openxmlformats.org/officeDocument/2006/relationships/image"/><Relationship Id="rId3" Target="../media/image22.png" Type="http://schemas.openxmlformats.org/officeDocument/2006/relationships/image"/><Relationship Id="rId4" Target="../media/image23.png" Type="http://schemas.openxmlformats.org/officeDocument/2006/relationships/image"/><Relationship Id="rId5" Target="../media/image24.png" Type="http://schemas.openxmlformats.org/officeDocument/2006/relationships/image"/></Relationships>
</file>

<file path=ppt/slides/_rels/slide1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jpeg" Type="http://schemas.openxmlformats.org/officeDocument/2006/relationships/image"/><Relationship Id="rId3" Target="../media/image24.png" Type="http://schemas.openxmlformats.org/officeDocument/2006/relationships/image"/><Relationship Id="rId4" Target="../media/image25.png" Type="http://schemas.openxmlformats.org/officeDocument/2006/relationships/image"/></Relationships>
</file>

<file path=ppt/slides/_rels/slide1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6.jpeg" Type="http://schemas.openxmlformats.org/officeDocument/2006/relationships/image"/><Relationship Id="rId3" Target="../media/image27.pn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6250" t="0" r="-6250" b="0"/>
            </a:stretch>
          </a:blipFill>
        </p:spPr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83333" r="0" b="-83333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7541412" y="5494363"/>
            <a:ext cx="2957095" cy="4075196"/>
          </a:xfrm>
          <a:custGeom>
            <a:avLst/>
            <a:gdLst/>
            <a:ahLst/>
            <a:cxnLst/>
            <a:rect r="r" b="b" t="t" l="l"/>
            <a:pathLst>
              <a:path h="4075196" w="2957095">
                <a:moveTo>
                  <a:pt x="0" y="0"/>
                </a:moveTo>
                <a:lnTo>
                  <a:pt x="2957096" y="0"/>
                </a:lnTo>
                <a:lnTo>
                  <a:pt x="2957096" y="4075197"/>
                </a:lnTo>
                <a:lnTo>
                  <a:pt x="0" y="4075197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-37938" r="-90094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1028700" y="3168021"/>
            <a:ext cx="16528033" cy="161567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2165"/>
              </a:lnSpc>
            </a:pPr>
            <a:r>
              <a:rPr lang="en-US" sz="11927">
                <a:solidFill>
                  <a:srgbClr val="000000"/>
                </a:solidFill>
                <a:latin typeface="Neue Machina"/>
                <a:ea typeface="Neue Machina"/>
                <a:cs typeface="Neue Machina"/>
                <a:sym typeface="Neue Machina"/>
              </a:rPr>
              <a:t>Expectativa Inicial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9259" r="0" b="-9259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79908" y="3520199"/>
            <a:ext cx="8332552" cy="4166276"/>
          </a:xfrm>
          <a:custGeom>
            <a:avLst/>
            <a:gdLst/>
            <a:ahLst/>
            <a:cxnLst/>
            <a:rect r="r" b="b" t="t" l="l"/>
            <a:pathLst>
              <a:path h="4166276" w="8332552">
                <a:moveTo>
                  <a:pt x="0" y="0"/>
                </a:moveTo>
                <a:lnTo>
                  <a:pt x="8332552" y="0"/>
                </a:lnTo>
                <a:lnTo>
                  <a:pt x="8332552" y="4166276"/>
                </a:lnTo>
                <a:lnTo>
                  <a:pt x="0" y="4166276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5086350" y="1052962"/>
            <a:ext cx="8115300" cy="111374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7563"/>
              </a:lnSpc>
              <a:spcBef>
                <a:spcPct val="0"/>
              </a:spcBef>
            </a:pPr>
            <a:r>
              <a:rPr lang="en-US" sz="10360" spc="-901">
                <a:solidFill>
                  <a:srgbClr val="EDEDED"/>
                </a:solidFill>
                <a:latin typeface="Neue Machina"/>
                <a:ea typeface="Neue Machina"/>
                <a:cs typeface="Neue Machina"/>
                <a:sym typeface="Neue Machina"/>
              </a:rPr>
              <a:t>Futuro</a:t>
            </a:r>
          </a:p>
        </p:txBody>
      </p:sp>
      <p:sp>
        <p:nvSpPr>
          <p:cNvPr name="Freeform 5" id="5"/>
          <p:cNvSpPr/>
          <p:nvPr/>
        </p:nvSpPr>
        <p:spPr>
          <a:xfrm flipH="false" flipV="false" rot="0">
            <a:off x="8689043" y="3048229"/>
            <a:ext cx="9419049" cy="5233472"/>
          </a:xfrm>
          <a:custGeom>
            <a:avLst/>
            <a:gdLst/>
            <a:ahLst/>
            <a:cxnLst/>
            <a:rect r="r" b="b" t="t" l="l"/>
            <a:pathLst>
              <a:path h="5233472" w="9419049">
                <a:moveTo>
                  <a:pt x="0" y="0"/>
                </a:moveTo>
                <a:lnTo>
                  <a:pt x="9419049" y="0"/>
                </a:lnTo>
                <a:lnTo>
                  <a:pt x="9419049" y="5233471"/>
                </a:lnTo>
                <a:lnTo>
                  <a:pt x="0" y="5233471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-1562" r="-1905" b="-1562"/>
            </a:stretch>
          </a:blipFill>
        </p:spPr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9259" r="0" b="-9259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453645" y="3523565"/>
            <a:ext cx="8091542" cy="4045771"/>
          </a:xfrm>
          <a:custGeom>
            <a:avLst/>
            <a:gdLst/>
            <a:ahLst/>
            <a:cxnLst/>
            <a:rect r="r" b="b" t="t" l="l"/>
            <a:pathLst>
              <a:path h="4045771" w="8091542">
                <a:moveTo>
                  <a:pt x="0" y="0"/>
                </a:moveTo>
                <a:lnTo>
                  <a:pt x="8091542" y="0"/>
                </a:lnTo>
                <a:lnTo>
                  <a:pt x="8091542" y="4045770"/>
                </a:lnTo>
                <a:lnTo>
                  <a:pt x="0" y="404577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8718858" y="2995631"/>
            <a:ext cx="9115496" cy="5101638"/>
          </a:xfrm>
          <a:custGeom>
            <a:avLst/>
            <a:gdLst/>
            <a:ahLst/>
            <a:cxnLst/>
            <a:rect r="r" b="b" t="t" l="l"/>
            <a:pathLst>
              <a:path h="5101638" w="9115496">
                <a:moveTo>
                  <a:pt x="0" y="0"/>
                </a:moveTo>
                <a:lnTo>
                  <a:pt x="9115497" y="0"/>
                </a:lnTo>
                <a:lnTo>
                  <a:pt x="9115497" y="5101638"/>
                </a:lnTo>
                <a:lnTo>
                  <a:pt x="0" y="5101638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5086350" y="1052962"/>
            <a:ext cx="8115300" cy="111374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7563"/>
              </a:lnSpc>
              <a:spcBef>
                <a:spcPct val="0"/>
              </a:spcBef>
            </a:pPr>
            <a:r>
              <a:rPr lang="en-US" sz="10360" spc="-901">
                <a:solidFill>
                  <a:srgbClr val="EDEDED"/>
                </a:solidFill>
                <a:latin typeface="Neue Machina"/>
                <a:ea typeface="Neue Machina"/>
                <a:cs typeface="Neue Machina"/>
                <a:sym typeface="Neue Machina"/>
              </a:rPr>
              <a:t>Passado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83333" r="0" b="-83333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8730211" y="3509760"/>
            <a:ext cx="3107042" cy="6504511"/>
          </a:xfrm>
          <a:custGeom>
            <a:avLst/>
            <a:gdLst/>
            <a:ahLst/>
            <a:cxnLst/>
            <a:rect r="r" b="b" t="t" l="l"/>
            <a:pathLst>
              <a:path h="6504511" w="3107042">
                <a:moveTo>
                  <a:pt x="0" y="0"/>
                </a:moveTo>
                <a:lnTo>
                  <a:pt x="3107043" y="0"/>
                </a:lnTo>
                <a:lnTo>
                  <a:pt x="3107043" y="6504512"/>
                </a:lnTo>
                <a:lnTo>
                  <a:pt x="0" y="6504512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-61966" r="0" b="-3462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2037279" y="2790979"/>
            <a:ext cx="2688446" cy="3965645"/>
          </a:xfrm>
          <a:custGeom>
            <a:avLst/>
            <a:gdLst/>
            <a:ahLst/>
            <a:cxnLst/>
            <a:rect r="r" b="b" t="t" l="l"/>
            <a:pathLst>
              <a:path h="3965645" w="2688446">
                <a:moveTo>
                  <a:pt x="0" y="0"/>
                </a:moveTo>
                <a:lnTo>
                  <a:pt x="2688446" y="0"/>
                </a:lnTo>
                <a:lnTo>
                  <a:pt x="2688446" y="3965645"/>
                </a:lnTo>
                <a:lnTo>
                  <a:pt x="0" y="3965645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-147647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4319465" y="5956116"/>
            <a:ext cx="3483268" cy="2750791"/>
          </a:xfrm>
          <a:custGeom>
            <a:avLst/>
            <a:gdLst/>
            <a:ahLst/>
            <a:cxnLst/>
            <a:rect r="r" b="b" t="t" l="l"/>
            <a:pathLst>
              <a:path h="2750791" w="3483268">
                <a:moveTo>
                  <a:pt x="0" y="0"/>
                </a:moveTo>
                <a:lnTo>
                  <a:pt x="3483268" y="0"/>
                </a:lnTo>
                <a:lnTo>
                  <a:pt x="3483268" y="2750792"/>
                </a:lnTo>
                <a:lnTo>
                  <a:pt x="0" y="2750792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-118049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14926924" y="2992736"/>
            <a:ext cx="3107243" cy="6902824"/>
          </a:xfrm>
          <a:custGeom>
            <a:avLst/>
            <a:gdLst/>
            <a:ahLst/>
            <a:cxnLst/>
            <a:rect r="r" b="b" t="t" l="l"/>
            <a:pathLst>
              <a:path h="6902824" w="3107243">
                <a:moveTo>
                  <a:pt x="0" y="0"/>
                </a:moveTo>
                <a:lnTo>
                  <a:pt x="3107243" y="0"/>
                </a:lnTo>
                <a:lnTo>
                  <a:pt x="3107243" y="6902824"/>
                </a:lnTo>
                <a:lnTo>
                  <a:pt x="0" y="6902824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-64435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574269" y="3883557"/>
            <a:ext cx="3434810" cy="4823350"/>
          </a:xfrm>
          <a:custGeom>
            <a:avLst/>
            <a:gdLst/>
            <a:ahLst/>
            <a:cxnLst/>
            <a:rect r="r" b="b" t="t" l="l"/>
            <a:pathLst>
              <a:path h="4823350" w="3434810">
                <a:moveTo>
                  <a:pt x="0" y="0"/>
                </a:moveTo>
                <a:lnTo>
                  <a:pt x="3434810" y="0"/>
                </a:lnTo>
                <a:lnTo>
                  <a:pt x="3434810" y="4823351"/>
                </a:lnTo>
                <a:lnTo>
                  <a:pt x="0" y="4823351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12037279" y="6762016"/>
            <a:ext cx="2728603" cy="3533542"/>
          </a:xfrm>
          <a:custGeom>
            <a:avLst/>
            <a:gdLst/>
            <a:ahLst/>
            <a:cxnLst/>
            <a:rect r="r" b="b" t="t" l="l"/>
            <a:pathLst>
              <a:path h="3533542" w="2728603">
                <a:moveTo>
                  <a:pt x="0" y="0"/>
                </a:moveTo>
                <a:lnTo>
                  <a:pt x="2728603" y="0"/>
                </a:lnTo>
                <a:lnTo>
                  <a:pt x="2728603" y="3533542"/>
                </a:lnTo>
                <a:lnTo>
                  <a:pt x="0" y="3533542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-167428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4433126" y="3729052"/>
            <a:ext cx="3255946" cy="2040393"/>
          </a:xfrm>
          <a:custGeom>
            <a:avLst/>
            <a:gdLst/>
            <a:ahLst/>
            <a:cxnLst/>
            <a:rect r="r" b="b" t="t" l="l"/>
            <a:pathLst>
              <a:path h="2040393" w="3255946">
                <a:moveTo>
                  <a:pt x="0" y="0"/>
                </a:moveTo>
                <a:lnTo>
                  <a:pt x="3255946" y="0"/>
                </a:lnTo>
                <a:lnTo>
                  <a:pt x="3255946" y="2040392"/>
                </a:lnTo>
                <a:lnTo>
                  <a:pt x="0" y="2040392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sp>
        <p:nvSpPr>
          <p:cNvPr name="TextBox 10" id="10"/>
          <p:cNvSpPr txBox="true"/>
          <p:nvPr/>
        </p:nvSpPr>
        <p:spPr>
          <a:xfrm rot="0">
            <a:off x="822703" y="401528"/>
            <a:ext cx="16642593" cy="142579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0740"/>
              </a:lnSpc>
            </a:pPr>
            <a:r>
              <a:rPr lang="en-US" sz="10529">
                <a:solidFill>
                  <a:srgbClr val="000000"/>
                </a:solidFill>
                <a:latin typeface="Neue Machina"/>
                <a:ea typeface="Neue Machina"/>
                <a:cs typeface="Neue Machina"/>
                <a:sym typeface="Neue Machina"/>
              </a:rPr>
              <a:t>Arquitetura Geral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8324221" y="1932097"/>
            <a:ext cx="9709947" cy="8271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266"/>
              </a:lnSpc>
            </a:pPr>
            <a:r>
              <a:rPr lang="en-US" sz="6143">
                <a:solidFill>
                  <a:srgbClr val="000000"/>
                </a:solidFill>
                <a:latin typeface="Neue Machina"/>
                <a:ea typeface="Neue Machina"/>
                <a:cs typeface="Neue Machina"/>
                <a:sym typeface="Neue Machina"/>
              </a:rPr>
              <a:t>Mapa + Entidades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360943" y="1932097"/>
            <a:ext cx="8003335" cy="8271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266"/>
              </a:lnSpc>
            </a:pPr>
            <a:r>
              <a:rPr lang="en-US" sz="6143">
                <a:solidFill>
                  <a:srgbClr val="000000"/>
                </a:solidFill>
                <a:latin typeface="Neue Machina"/>
                <a:ea typeface="Neue Machina"/>
                <a:cs typeface="Neue Machina"/>
                <a:sym typeface="Neue Machina"/>
              </a:rPr>
              <a:t>Músicas + Menus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83333" r="0" b="-83333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822703" y="401528"/>
            <a:ext cx="16642593" cy="142579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0740"/>
              </a:lnSpc>
            </a:pPr>
            <a:r>
              <a:rPr lang="en-US" sz="10529">
                <a:solidFill>
                  <a:srgbClr val="000000"/>
                </a:solidFill>
                <a:latin typeface="Neue Machina"/>
                <a:ea typeface="Neue Machina"/>
                <a:cs typeface="Neue Machina"/>
                <a:sym typeface="Neue Machina"/>
              </a:rPr>
              <a:t>Arquitetura Geral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347381" y="2556298"/>
            <a:ext cx="2236520" cy="5238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825"/>
              </a:lnSpc>
            </a:pPr>
            <a:r>
              <a:rPr lang="en-US" b="true" sz="3750">
                <a:solidFill>
                  <a:srgbClr val="000000"/>
                </a:solidFill>
                <a:latin typeface="Neue Machina Ultra-Bold"/>
                <a:ea typeface="Neue Machina Ultra-Bold"/>
                <a:cs typeface="Neue Machina Ultra-Bold"/>
                <a:sym typeface="Neue Machina Ultra-Bold"/>
              </a:rPr>
              <a:t>-Main.c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347381" y="6558925"/>
            <a:ext cx="3831572" cy="5238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825"/>
              </a:lnSpc>
            </a:pPr>
            <a:r>
              <a:rPr lang="en-US" b="true" sz="3750">
                <a:solidFill>
                  <a:srgbClr val="000000"/>
                </a:solidFill>
                <a:latin typeface="Neue Machina Ultra-Bold"/>
                <a:ea typeface="Neue Machina Ultra-Bold"/>
                <a:cs typeface="Neue Machina Ultra-Bold"/>
                <a:sym typeface="Neue Machina Ultra-Bold"/>
              </a:rPr>
              <a:t>-Cenario.c/.h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0345304" y="2556298"/>
            <a:ext cx="3275947" cy="5238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825"/>
              </a:lnSpc>
            </a:pPr>
            <a:r>
              <a:rPr lang="en-US" b="true" sz="3750">
                <a:solidFill>
                  <a:srgbClr val="000000"/>
                </a:solidFill>
                <a:latin typeface="Neue Machina Ultra-Bold"/>
                <a:ea typeface="Neue Machina Ultra-Bold"/>
                <a:cs typeface="Neue Machina Ultra-Bold"/>
                <a:sym typeface="Neue Machina Ultra-Bold"/>
              </a:rPr>
              <a:t>-Player.c/.h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0345304" y="6558925"/>
            <a:ext cx="4014520" cy="5238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825"/>
              </a:lnSpc>
            </a:pPr>
            <a:r>
              <a:rPr lang="en-US" b="true" sz="3750">
                <a:solidFill>
                  <a:srgbClr val="000000"/>
                </a:solidFill>
                <a:latin typeface="Neue Machina Ultra-Bold"/>
                <a:ea typeface="Neue Machina Ultra-Bold"/>
                <a:cs typeface="Neue Machina Ultra-Bold"/>
                <a:sym typeface="Neue Machina Ultra-Bold"/>
              </a:rPr>
              <a:t>-Inimigos.c/.h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347381" y="3337681"/>
            <a:ext cx="8694470" cy="294376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44876" indent="-272438" lvl="1">
              <a:lnSpc>
                <a:spcPts val="2574"/>
              </a:lnSpc>
              <a:buFont typeface="Arial"/>
              <a:buChar char="•"/>
            </a:pPr>
            <a:r>
              <a:rPr lang="en-US" sz="2523">
                <a:solidFill>
                  <a:srgbClr val="000000"/>
                </a:solidFill>
                <a:latin typeface="Neue Machina"/>
                <a:ea typeface="Neue Machina"/>
                <a:cs typeface="Neue Machina"/>
                <a:sym typeface="Neue Machina"/>
              </a:rPr>
              <a:t>Carregamento de cenários, player, inimigos e boss</a:t>
            </a:r>
          </a:p>
          <a:p>
            <a:pPr algn="l">
              <a:lnSpc>
                <a:spcPts val="2574"/>
              </a:lnSpc>
            </a:pPr>
          </a:p>
          <a:p>
            <a:pPr algn="l" marL="544876" indent="-272438" lvl="1">
              <a:lnSpc>
                <a:spcPts val="2574"/>
              </a:lnSpc>
              <a:buFont typeface="Arial"/>
              <a:buChar char="•"/>
            </a:pPr>
            <a:r>
              <a:rPr lang="en-US" sz="2523">
                <a:solidFill>
                  <a:srgbClr val="000000"/>
                </a:solidFill>
                <a:latin typeface="Neue Machina"/>
                <a:ea typeface="Neue Machina"/>
                <a:cs typeface="Neue Machina"/>
                <a:sym typeface="Neue Machina"/>
              </a:rPr>
              <a:t>Controle dos estados do jogo:(Jogo, Pausa, Morte, Menu inicial)</a:t>
            </a:r>
          </a:p>
          <a:p>
            <a:pPr algn="l">
              <a:lnSpc>
                <a:spcPts val="2574"/>
              </a:lnSpc>
            </a:pPr>
          </a:p>
          <a:p>
            <a:pPr algn="l" marL="544876" indent="-272438" lvl="1">
              <a:lnSpc>
                <a:spcPts val="2574"/>
              </a:lnSpc>
              <a:buFont typeface="Arial"/>
              <a:buChar char="•"/>
            </a:pPr>
            <a:r>
              <a:rPr lang="en-US" sz="2523">
                <a:solidFill>
                  <a:srgbClr val="000000"/>
                </a:solidFill>
                <a:latin typeface="Neue Machina"/>
                <a:ea typeface="Neue Machina"/>
                <a:cs typeface="Neue Machina"/>
                <a:sym typeface="Neue Machina"/>
              </a:rPr>
              <a:t>Chamada das rotinas:(updatePlayer, update cenários, update boss, render de tudo)</a:t>
            </a:r>
          </a:p>
          <a:p>
            <a:pPr algn="l">
              <a:lnSpc>
                <a:spcPts val="2574"/>
              </a:lnSpc>
            </a:pPr>
          </a:p>
        </p:txBody>
      </p:sp>
      <p:sp>
        <p:nvSpPr>
          <p:cNvPr name="TextBox 9" id="9"/>
          <p:cNvSpPr txBox="true"/>
          <p:nvPr/>
        </p:nvSpPr>
        <p:spPr>
          <a:xfrm rot="0">
            <a:off x="10345304" y="3791998"/>
            <a:ext cx="6551894" cy="164836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44876" indent="-272438" lvl="1">
              <a:lnSpc>
                <a:spcPts val="2574"/>
              </a:lnSpc>
              <a:buFont typeface="Arial"/>
              <a:buChar char="•"/>
            </a:pPr>
            <a:r>
              <a:rPr lang="en-US" sz="2523">
                <a:solidFill>
                  <a:srgbClr val="000000"/>
                </a:solidFill>
                <a:latin typeface="Neue Machina"/>
                <a:ea typeface="Neue Machina"/>
                <a:cs typeface="Neue Machina"/>
                <a:sym typeface="Neue Machina"/>
              </a:rPr>
              <a:t>Movimentação</a:t>
            </a:r>
          </a:p>
          <a:p>
            <a:pPr algn="l">
              <a:lnSpc>
                <a:spcPts val="2574"/>
              </a:lnSpc>
            </a:pPr>
          </a:p>
          <a:p>
            <a:pPr algn="l" marL="544876" indent="-272438" lvl="1">
              <a:lnSpc>
                <a:spcPts val="2574"/>
              </a:lnSpc>
              <a:buFont typeface="Arial"/>
              <a:buChar char="•"/>
            </a:pPr>
            <a:r>
              <a:rPr lang="en-US" sz="2523">
                <a:solidFill>
                  <a:srgbClr val="000000"/>
                </a:solidFill>
                <a:latin typeface="Neue Machina"/>
                <a:ea typeface="Neue Machina"/>
                <a:cs typeface="Neue Machina"/>
                <a:sym typeface="Neue Machina"/>
              </a:rPr>
              <a:t>Animações</a:t>
            </a:r>
          </a:p>
          <a:p>
            <a:pPr algn="l">
              <a:lnSpc>
                <a:spcPts val="2574"/>
              </a:lnSpc>
            </a:pPr>
          </a:p>
          <a:p>
            <a:pPr algn="l" marL="544876" indent="-272438" lvl="1">
              <a:lnSpc>
                <a:spcPts val="2574"/>
              </a:lnSpc>
              <a:buFont typeface="Arial"/>
              <a:buChar char="•"/>
            </a:pPr>
            <a:r>
              <a:rPr lang="en-US" sz="2523">
                <a:solidFill>
                  <a:srgbClr val="000000"/>
                </a:solidFill>
                <a:latin typeface="Neue Machina"/>
                <a:ea typeface="Neue Machina"/>
                <a:cs typeface="Neue Machina"/>
                <a:sym typeface="Neue Machina"/>
              </a:rPr>
              <a:t>Interação Player com todo o resto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347381" y="7436898"/>
            <a:ext cx="7663144" cy="294376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44876" indent="-272438" lvl="1">
              <a:lnSpc>
                <a:spcPts val="2574"/>
              </a:lnSpc>
              <a:buFont typeface="Arial"/>
              <a:buChar char="•"/>
            </a:pPr>
            <a:r>
              <a:rPr lang="en-US" sz="2523">
                <a:solidFill>
                  <a:srgbClr val="000000"/>
                </a:solidFill>
                <a:latin typeface="Neue Machina"/>
                <a:ea typeface="Neue Machina"/>
                <a:cs typeface="Neue Machina"/>
                <a:sym typeface="Neue Machina"/>
              </a:rPr>
              <a:t>Armazenar layers: (fundo, paralax, objetos atrás, objetos à frente)</a:t>
            </a:r>
          </a:p>
          <a:p>
            <a:pPr algn="l">
              <a:lnSpc>
                <a:spcPts val="2574"/>
              </a:lnSpc>
            </a:pPr>
          </a:p>
          <a:p>
            <a:pPr algn="l">
              <a:lnSpc>
                <a:spcPts val="2574"/>
              </a:lnSpc>
            </a:pPr>
          </a:p>
          <a:p>
            <a:pPr algn="l" marL="544876" indent="-272438" lvl="1">
              <a:lnSpc>
                <a:spcPts val="2574"/>
              </a:lnSpc>
              <a:buFont typeface="Arial"/>
              <a:buChar char="•"/>
            </a:pPr>
            <a:r>
              <a:rPr lang="en-US" sz="2523">
                <a:solidFill>
                  <a:srgbClr val="000000"/>
                </a:solidFill>
                <a:latin typeface="Neue Machina"/>
                <a:ea typeface="Neue Machina"/>
                <a:cs typeface="Neue Machina"/>
                <a:sym typeface="Neue Machina"/>
              </a:rPr>
              <a:t>Elementos interativos:  addElemento()</a:t>
            </a:r>
          </a:p>
          <a:p>
            <a:pPr algn="l">
              <a:lnSpc>
                <a:spcPts val="2574"/>
              </a:lnSpc>
            </a:pPr>
            <a:r>
              <a:rPr lang="en-US" sz="2523">
                <a:solidFill>
                  <a:srgbClr val="000000"/>
                </a:solidFill>
                <a:latin typeface="Neue Machina"/>
                <a:ea typeface="Neue Machina"/>
                <a:cs typeface="Neue Machina"/>
                <a:sym typeface="Neue Machina"/>
              </a:rPr>
              <a:t>                                          </a:t>
            </a:r>
            <a:r>
              <a:rPr lang="en-US" sz="2523">
                <a:solidFill>
                  <a:srgbClr val="000000"/>
                </a:solidFill>
                <a:latin typeface="Neue Machina"/>
                <a:ea typeface="Neue Machina"/>
                <a:cs typeface="Neue Machina"/>
                <a:sym typeface="Neue Machina"/>
              </a:rPr>
              <a:t>updateElementos()</a:t>
            </a:r>
          </a:p>
          <a:p>
            <a:pPr algn="l">
              <a:lnSpc>
                <a:spcPts val="2574"/>
              </a:lnSpc>
            </a:pPr>
            <a:r>
              <a:rPr lang="en-US" sz="2523">
                <a:solidFill>
                  <a:srgbClr val="000000"/>
                </a:solidFill>
                <a:latin typeface="Neue Machina"/>
                <a:ea typeface="Neue Machina"/>
                <a:cs typeface="Neue Machina"/>
                <a:sym typeface="Neue Machina"/>
              </a:rPr>
              <a:t>                                          renderElementos()</a:t>
            </a:r>
          </a:p>
          <a:p>
            <a:pPr algn="l">
              <a:lnSpc>
                <a:spcPts val="2574"/>
              </a:lnSpc>
            </a:pPr>
          </a:p>
          <a:p>
            <a:pPr algn="l">
              <a:lnSpc>
                <a:spcPts val="2574"/>
              </a:lnSpc>
            </a:pPr>
          </a:p>
        </p:txBody>
      </p:sp>
      <p:sp>
        <p:nvSpPr>
          <p:cNvPr name="TextBox 11" id="11"/>
          <p:cNvSpPr txBox="true"/>
          <p:nvPr/>
        </p:nvSpPr>
        <p:spPr>
          <a:xfrm rot="0">
            <a:off x="10465954" y="7436898"/>
            <a:ext cx="6551894" cy="164836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44876" indent="-272438" lvl="1">
              <a:lnSpc>
                <a:spcPts val="2574"/>
              </a:lnSpc>
              <a:buFont typeface="Arial"/>
              <a:buChar char="•"/>
            </a:pPr>
            <a:r>
              <a:rPr lang="en-US" sz="2523">
                <a:solidFill>
                  <a:srgbClr val="000000"/>
                </a:solidFill>
                <a:latin typeface="Neue Machina"/>
                <a:ea typeface="Neue Machina"/>
                <a:cs typeface="Neue Machina"/>
                <a:sym typeface="Neue Machina"/>
              </a:rPr>
              <a:t>Iniciação</a:t>
            </a:r>
          </a:p>
          <a:p>
            <a:pPr algn="l">
              <a:lnSpc>
                <a:spcPts val="2574"/>
              </a:lnSpc>
            </a:pPr>
          </a:p>
          <a:p>
            <a:pPr algn="l" marL="544876" indent="-272438" lvl="1">
              <a:lnSpc>
                <a:spcPts val="2574"/>
              </a:lnSpc>
              <a:buFont typeface="Arial"/>
              <a:buChar char="•"/>
            </a:pPr>
            <a:r>
              <a:rPr lang="en-US" sz="2523">
                <a:solidFill>
                  <a:srgbClr val="000000"/>
                </a:solidFill>
                <a:latin typeface="Neue Machina"/>
                <a:ea typeface="Neue Machina"/>
                <a:cs typeface="Neue Machina"/>
                <a:sym typeface="Neue Machina"/>
              </a:rPr>
              <a:t>Updates</a:t>
            </a:r>
          </a:p>
          <a:p>
            <a:pPr algn="l">
              <a:lnSpc>
                <a:spcPts val="2574"/>
              </a:lnSpc>
            </a:pPr>
          </a:p>
          <a:p>
            <a:pPr algn="l" marL="544876" indent="-272438" lvl="1">
              <a:lnSpc>
                <a:spcPts val="2574"/>
              </a:lnSpc>
              <a:buFont typeface="Arial"/>
              <a:buChar char="•"/>
            </a:pPr>
            <a:r>
              <a:rPr lang="en-US" sz="2523">
                <a:solidFill>
                  <a:srgbClr val="000000"/>
                </a:solidFill>
                <a:latin typeface="Neue Machina"/>
                <a:ea typeface="Neue Machina"/>
                <a:cs typeface="Neue Machina"/>
                <a:sym typeface="Neue Machina"/>
              </a:rPr>
              <a:t>Renderização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83333" r="0" b="-83333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822703" y="401528"/>
            <a:ext cx="16642593" cy="142579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0740"/>
              </a:lnSpc>
            </a:pPr>
            <a:r>
              <a:rPr lang="en-US" sz="10529">
                <a:solidFill>
                  <a:srgbClr val="000000"/>
                </a:solidFill>
                <a:latin typeface="Neue Machina"/>
                <a:ea typeface="Neue Machina"/>
                <a:cs typeface="Neue Machina"/>
                <a:sym typeface="Neue Machina"/>
              </a:rPr>
              <a:t>Máquinas de estado</a:t>
            </a:r>
          </a:p>
        </p:txBody>
      </p:sp>
      <p:sp>
        <p:nvSpPr>
          <p:cNvPr name="Freeform 4" id="4"/>
          <p:cNvSpPr/>
          <p:nvPr/>
        </p:nvSpPr>
        <p:spPr>
          <a:xfrm flipH="false" flipV="false" rot="0">
            <a:off x="1597996" y="1535625"/>
            <a:ext cx="14682154" cy="8751375"/>
          </a:xfrm>
          <a:custGeom>
            <a:avLst/>
            <a:gdLst/>
            <a:ahLst/>
            <a:cxnLst/>
            <a:rect r="r" b="b" t="t" l="l"/>
            <a:pathLst>
              <a:path h="8751375" w="14682154">
                <a:moveTo>
                  <a:pt x="0" y="0"/>
                </a:moveTo>
                <a:lnTo>
                  <a:pt x="14682154" y="0"/>
                </a:lnTo>
                <a:lnTo>
                  <a:pt x="14682154" y="8751375"/>
                </a:lnTo>
                <a:lnTo>
                  <a:pt x="0" y="8751375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3727285" y="5889747"/>
            <a:ext cx="679568" cy="3000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97"/>
              </a:lnSpc>
            </a:pPr>
            <a:r>
              <a:rPr lang="en-US" sz="1783">
                <a:solidFill>
                  <a:srgbClr val="000000"/>
                </a:solidFill>
                <a:latin typeface="Open Sans 1"/>
                <a:ea typeface="Open Sans 1"/>
                <a:cs typeface="Open Sans 1"/>
                <a:sym typeface="Open Sans 1"/>
              </a:rPr>
              <a:t>MENU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8863876" y="2450946"/>
            <a:ext cx="906350" cy="3000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97"/>
              </a:lnSpc>
            </a:pPr>
            <a:r>
              <a:rPr lang="en-US" sz="1783">
                <a:solidFill>
                  <a:srgbClr val="000000"/>
                </a:solidFill>
                <a:latin typeface="Open Sans 1"/>
                <a:ea typeface="Open Sans 1"/>
                <a:cs typeface="Open Sans 1"/>
                <a:sym typeface="Open Sans 1"/>
              </a:rPr>
              <a:t>FUTURO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4796119" y="5876331"/>
            <a:ext cx="731550" cy="2990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19"/>
              </a:lnSpc>
            </a:pPr>
            <a:r>
              <a:rPr lang="en-US" sz="1656">
                <a:solidFill>
                  <a:srgbClr val="000000"/>
                </a:solidFill>
                <a:latin typeface="Open Sans 1"/>
                <a:ea typeface="Open Sans 1"/>
                <a:cs typeface="Open Sans 1"/>
                <a:sym typeface="Open Sans 1"/>
              </a:rPr>
              <a:t>MORTE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5217645" y="8921967"/>
            <a:ext cx="670806" cy="29450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63"/>
              </a:lnSpc>
            </a:pPr>
            <a:r>
              <a:rPr lang="en-US" sz="1688">
                <a:solidFill>
                  <a:srgbClr val="000000"/>
                </a:solidFill>
                <a:latin typeface="Open Sans 1"/>
                <a:ea typeface="Open Sans 1"/>
                <a:cs typeface="Open Sans 1"/>
                <a:sym typeface="Open Sans 1"/>
              </a:rPr>
              <a:t>PAUSE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8997690" y="5751083"/>
            <a:ext cx="670806" cy="29450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63"/>
              </a:lnSpc>
            </a:pPr>
            <a:r>
              <a:rPr lang="en-US" sz="1688">
                <a:solidFill>
                  <a:srgbClr val="000000"/>
                </a:solidFill>
                <a:latin typeface="Open Sans 1"/>
                <a:ea typeface="Open Sans 1"/>
                <a:cs typeface="Open Sans 1"/>
                <a:sym typeface="Open Sans 1"/>
              </a:rPr>
              <a:t>PAUSE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8847205" y="8996171"/>
            <a:ext cx="978080" cy="29450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63"/>
              </a:lnSpc>
            </a:pPr>
            <a:r>
              <a:rPr lang="en-US" sz="1688">
                <a:solidFill>
                  <a:srgbClr val="000000"/>
                </a:solidFill>
                <a:latin typeface="Open Sans 1"/>
                <a:ea typeface="Open Sans 1"/>
                <a:cs typeface="Open Sans 1"/>
                <a:sym typeface="Open Sans 1"/>
              </a:rPr>
              <a:t>PASSADO</a:t>
            </a:r>
          </a:p>
        </p:txBody>
      </p:sp>
      <p:sp>
        <p:nvSpPr>
          <p:cNvPr name="TextBox 11" id="11"/>
          <p:cNvSpPr txBox="true"/>
          <p:nvPr/>
        </p:nvSpPr>
        <p:spPr>
          <a:xfrm rot="-1861380">
            <a:off x="5475526" y="3768027"/>
            <a:ext cx="1250539" cy="29450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63"/>
              </a:lnSpc>
            </a:pPr>
            <a:r>
              <a:rPr lang="en-US" sz="1688">
                <a:solidFill>
                  <a:srgbClr val="000000"/>
                </a:solidFill>
                <a:latin typeface="Open Sans 1"/>
                <a:ea typeface="Open Sans 1"/>
                <a:cs typeface="Open Sans 1"/>
                <a:sym typeface="Open Sans 1"/>
              </a:rPr>
              <a:t>NOVO JOGO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5026223" y="7400323"/>
            <a:ext cx="1741606" cy="30204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45"/>
              </a:lnSpc>
            </a:pPr>
            <a:r>
              <a:rPr lang="en-US" sz="1675">
                <a:solidFill>
                  <a:srgbClr val="000000"/>
                </a:solidFill>
                <a:latin typeface="Open Sans 1"/>
                <a:ea typeface="Open Sans 1"/>
                <a:cs typeface="Open Sans 1"/>
                <a:sym typeface="Open Sans 1"/>
              </a:rPr>
              <a:t>SAIR PARA MENU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7383067" y="9475784"/>
            <a:ext cx="376729" cy="30204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45"/>
              </a:lnSpc>
            </a:pPr>
            <a:r>
              <a:rPr lang="en-US" sz="1675">
                <a:solidFill>
                  <a:srgbClr val="000000"/>
                </a:solidFill>
                <a:latin typeface="Open Sans 1"/>
                <a:ea typeface="Open Sans 1"/>
                <a:cs typeface="Open Sans 1"/>
                <a:sym typeface="Open Sans 1"/>
              </a:rPr>
              <a:t>ESC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6222439" y="5448548"/>
            <a:ext cx="1741606" cy="30204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45"/>
              </a:lnSpc>
            </a:pPr>
            <a:r>
              <a:rPr lang="en-US" sz="1675">
                <a:solidFill>
                  <a:srgbClr val="000000"/>
                </a:solidFill>
                <a:latin typeface="Open Sans 1"/>
                <a:ea typeface="Open Sans 1"/>
                <a:cs typeface="Open Sans 1"/>
                <a:sym typeface="Open Sans 1"/>
              </a:rPr>
              <a:t>SAIR PARA MENU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6744952" y="8336950"/>
            <a:ext cx="1243234" cy="30204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45"/>
              </a:lnSpc>
            </a:pPr>
            <a:r>
              <a:rPr lang="en-US" sz="1675">
                <a:solidFill>
                  <a:srgbClr val="000000"/>
                </a:solidFill>
                <a:latin typeface="Open Sans 1"/>
                <a:ea typeface="Open Sans 1"/>
                <a:cs typeface="Open Sans 1"/>
                <a:sym typeface="Open Sans 1"/>
              </a:rPr>
              <a:t>CONTINUAR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8332129" y="3873079"/>
            <a:ext cx="376729" cy="30204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45"/>
              </a:lnSpc>
            </a:pPr>
            <a:r>
              <a:rPr lang="en-US" sz="1675">
                <a:solidFill>
                  <a:srgbClr val="000000"/>
                </a:solidFill>
                <a:latin typeface="Open Sans 1"/>
                <a:ea typeface="Open Sans 1"/>
                <a:cs typeface="Open Sans 1"/>
                <a:sym typeface="Open Sans 1"/>
              </a:rPr>
              <a:t>ESC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9595219" y="4223292"/>
            <a:ext cx="1243234" cy="30204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45"/>
              </a:lnSpc>
            </a:pPr>
            <a:r>
              <a:rPr lang="en-US" sz="1675">
                <a:solidFill>
                  <a:srgbClr val="000000"/>
                </a:solidFill>
                <a:latin typeface="Open Sans 1"/>
                <a:ea typeface="Open Sans 1"/>
                <a:cs typeface="Open Sans 1"/>
                <a:sym typeface="Open Sans 1"/>
              </a:rPr>
              <a:t>CONTINUAR</a:t>
            </a:r>
          </a:p>
        </p:txBody>
      </p:sp>
      <p:sp>
        <p:nvSpPr>
          <p:cNvPr name="TextBox 18" id="18"/>
          <p:cNvSpPr txBox="true"/>
          <p:nvPr/>
        </p:nvSpPr>
        <p:spPr>
          <a:xfrm rot="1975440">
            <a:off x="11677413" y="4591033"/>
            <a:ext cx="852523" cy="29450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63"/>
              </a:lnSpc>
            </a:pPr>
            <a:r>
              <a:rPr lang="en-US" sz="1688">
                <a:solidFill>
                  <a:srgbClr val="000000"/>
                </a:solidFill>
                <a:latin typeface="Open Sans 1"/>
                <a:ea typeface="Open Sans 1"/>
                <a:cs typeface="Open Sans 1"/>
                <a:sym typeface="Open Sans 1"/>
              </a:rPr>
              <a:t>VIDA &lt; 0</a:t>
            </a:r>
          </a:p>
        </p:txBody>
      </p:sp>
      <p:sp>
        <p:nvSpPr>
          <p:cNvPr name="TextBox 19" id="19"/>
          <p:cNvSpPr txBox="true"/>
          <p:nvPr/>
        </p:nvSpPr>
        <p:spPr>
          <a:xfrm rot="1975440">
            <a:off x="12555021" y="3604018"/>
            <a:ext cx="1014698" cy="29450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63"/>
              </a:lnSpc>
            </a:pPr>
            <a:r>
              <a:rPr lang="en-US" sz="1688">
                <a:solidFill>
                  <a:srgbClr val="000000"/>
                </a:solidFill>
                <a:latin typeface="Open Sans 1"/>
                <a:ea typeface="Open Sans 1"/>
                <a:cs typeface="Open Sans 1"/>
                <a:sym typeface="Open Sans 1"/>
              </a:rPr>
              <a:t>ACORDAR</a:t>
            </a:r>
          </a:p>
        </p:txBody>
      </p:sp>
      <p:sp>
        <p:nvSpPr>
          <p:cNvPr name="TextBox 20" id="20"/>
          <p:cNvSpPr txBox="true"/>
          <p:nvPr/>
        </p:nvSpPr>
        <p:spPr>
          <a:xfrm rot="-1780380">
            <a:off x="12190466" y="8140491"/>
            <a:ext cx="852523" cy="29450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63"/>
              </a:lnSpc>
            </a:pPr>
            <a:r>
              <a:rPr lang="en-US" sz="1688">
                <a:solidFill>
                  <a:srgbClr val="000000"/>
                </a:solidFill>
                <a:latin typeface="Open Sans 1"/>
                <a:ea typeface="Open Sans 1"/>
                <a:cs typeface="Open Sans 1"/>
                <a:sym typeface="Open Sans 1"/>
              </a:rPr>
              <a:t>VIDA &lt; 0</a:t>
            </a:r>
          </a:p>
        </p:txBody>
      </p:sp>
      <p:sp>
        <p:nvSpPr>
          <p:cNvPr name="TextBox 21" id="21"/>
          <p:cNvSpPr txBox="true"/>
          <p:nvPr/>
        </p:nvSpPr>
        <p:spPr>
          <a:xfrm rot="-1811940">
            <a:off x="11430143" y="6960647"/>
            <a:ext cx="982879" cy="29450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63"/>
              </a:lnSpc>
            </a:pPr>
            <a:r>
              <a:rPr lang="en-US" sz="1688">
                <a:solidFill>
                  <a:srgbClr val="000000"/>
                </a:solidFill>
                <a:latin typeface="Open Sans 1"/>
                <a:ea typeface="Open Sans 1"/>
                <a:cs typeface="Open Sans 1"/>
                <a:sym typeface="Open Sans 1"/>
              </a:rPr>
              <a:t>LEMBRAR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83333" r="0" b="-83333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822703" y="401528"/>
            <a:ext cx="16642593" cy="142579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0740"/>
              </a:lnSpc>
            </a:pPr>
            <a:r>
              <a:rPr lang="en-US" sz="10529">
                <a:solidFill>
                  <a:srgbClr val="000000"/>
                </a:solidFill>
                <a:latin typeface="Neue Machina"/>
                <a:ea typeface="Neue Machina"/>
                <a:cs typeface="Neue Machina"/>
                <a:sym typeface="Neue Machina"/>
              </a:rPr>
              <a:t>Máquinas de estado</a:t>
            </a:r>
          </a:p>
        </p:txBody>
      </p:sp>
      <p:grpSp>
        <p:nvGrpSpPr>
          <p:cNvPr name="Group 4" id="4"/>
          <p:cNvGrpSpPr/>
          <p:nvPr/>
        </p:nvGrpSpPr>
        <p:grpSpPr>
          <a:xfrm rot="0">
            <a:off x="1883244" y="1590370"/>
            <a:ext cx="14120288" cy="8696630"/>
            <a:chOff x="0" y="0"/>
            <a:chExt cx="18827051" cy="11595507"/>
          </a:xfrm>
        </p:grpSpPr>
        <p:grpSp>
          <p:nvGrpSpPr>
            <p:cNvPr name="Group 5" id="5"/>
            <p:cNvGrpSpPr/>
            <p:nvPr/>
          </p:nvGrpSpPr>
          <p:grpSpPr>
            <a:xfrm rot="0">
              <a:off x="0" y="750534"/>
              <a:ext cx="1647262" cy="1251923"/>
              <a:chOff x="0" y="0"/>
              <a:chExt cx="1069471" cy="812800"/>
            </a:xfrm>
          </p:grpSpPr>
          <p:sp>
            <p:nvSpPr>
              <p:cNvPr name="Freeform 6" id="6"/>
              <p:cNvSpPr/>
              <p:nvPr/>
            </p:nvSpPr>
            <p:spPr>
              <a:xfrm flipH="false" flipV="false" rot="0">
                <a:off x="0" y="0"/>
                <a:ext cx="1069471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1069471">
                    <a:moveTo>
                      <a:pt x="1069471" y="406400"/>
                    </a:moveTo>
                    <a:lnTo>
                      <a:pt x="663071" y="0"/>
                    </a:lnTo>
                    <a:lnTo>
                      <a:pt x="663071" y="203200"/>
                    </a:lnTo>
                    <a:lnTo>
                      <a:pt x="0" y="203200"/>
                    </a:lnTo>
                    <a:lnTo>
                      <a:pt x="0" y="609600"/>
                    </a:lnTo>
                    <a:lnTo>
                      <a:pt x="663071" y="609600"/>
                    </a:lnTo>
                    <a:lnTo>
                      <a:pt x="663071" y="812800"/>
                    </a:lnTo>
                    <a:lnTo>
                      <a:pt x="1069471" y="406400"/>
                    </a:lnTo>
                    <a:close/>
                  </a:path>
                </a:pathLst>
              </a:custGeom>
              <a:solidFill>
                <a:srgbClr val="FFFFFF"/>
              </a:solidFill>
              <a:ln w="38100" cap="sq">
                <a:solidFill>
                  <a:srgbClr val="000000"/>
                </a:solidFill>
                <a:prstDash val="solid"/>
                <a:miter/>
              </a:ln>
            </p:spPr>
          </p:sp>
          <p:sp>
            <p:nvSpPr>
              <p:cNvPr name="TextBox 7" id="7"/>
              <p:cNvSpPr txBox="true"/>
              <p:nvPr/>
            </p:nvSpPr>
            <p:spPr>
              <a:xfrm>
                <a:off x="0" y="165100"/>
                <a:ext cx="967871" cy="444500"/>
              </a:xfrm>
              <a:prstGeom prst="rect">
                <a:avLst/>
              </a:prstGeom>
            </p:spPr>
            <p:txBody>
              <a:bodyPr anchor="ctr" rtlCol="false" tIns="68209" lIns="68209" bIns="68209" rIns="68209"/>
              <a:lstStyle/>
              <a:p>
                <a:pPr algn="ctr">
                  <a:lnSpc>
                    <a:spcPts val="2659"/>
                  </a:lnSpc>
                  <a:spcBef>
                    <a:spcPct val="0"/>
                  </a:spcBef>
                </a:pPr>
              </a:p>
            </p:txBody>
          </p:sp>
        </p:grpSp>
        <p:grpSp>
          <p:nvGrpSpPr>
            <p:cNvPr name="Group 8" id="8"/>
            <p:cNvGrpSpPr/>
            <p:nvPr/>
          </p:nvGrpSpPr>
          <p:grpSpPr>
            <a:xfrm rot="0">
              <a:off x="2088138" y="12722"/>
              <a:ext cx="2768915" cy="2768915"/>
              <a:chOff x="0" y="0"/>
              <a:chExt cx="812800" cy="812800"/>
            </a:xfrm>
          </p:grpSpPr>
          <p:sp>
            <p:nvSpPr>
              <p:cNvPr name="Freeform 9" id="9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lnTo>
                      <a:pt x="406400" y="0"/>
                    </a:lnTo>
                    <a:close/>
                  </a:path>
                </a:pathLst>
              </a:custGeom>
              <a:solidFill>
                <a:srgbClr val="FFFFFF"/>
              </a:solidFill>
              <a:ln w="38100" cap="rnd">
                <a:solidFill>
                  <a:srgbClr val="000000"/>
                </a:solidFill>
                <a:prstDash val="solid"/>
                <a:round/>
              </a:ln>
            </p:spPr>
          </p:sp>
          <p:sp>
            <p:nvSpPr>
              <p:cNvPr name="TextBox 10" id="10"/>
              <p:cNvSpPr txBox="true"/>
              <p:nvPr/>
            </p:nvSpPr>
            <p:spPr>
              <a:xfrm>
                <a:off x="76200" y="38100"/>
                <a:ext cx="660400" cy="698500"/>
              </a:xfrm>
              <a:prstGeom prst="rect">
                <a:avLst/>
              </a:prstGeom>
            </p:spPr>
            <p:txBody>
              <a:bodyPr anchor="ctr" rtlCol="false" tIns="59885" lIns="59885" bIns="59885" rIns="59885"/>
              <a:lstStyle/>
              <a:p>
                <a:pPr algn="ctr">
                  <a:lnSpc>
                    <a:spcPts val="2659"/>
                  </a:lnSpc>
                  <a:spcBef>
                    <a:spcPct val="0"/>
                  </a:spcBef>
                </a:pPr>
              </a:p>
            </p:txBody>
          </p:sp>
        </p:grpSp>
        <p:sp>
          <p:nvSpPr>
            <p:cNvPr name="TextBox 11" id="11"/>
            <p:cNvSpPr txBox="true"/>
            <p:nvPr/>
          </p:nvSpPr>
          <p:spPr>
            <a:xfrm rot="0">
              <a:off x="1678776" y="1202879"/>
              <a:ext cx="3587639" cy="373869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422"/>
                </a:lnSpc>
                <a:spcBef>
                  <a:spcPct val="0"/>
                </a:spcBef>
              </a:pPr>
              <a:r>
                <a:rPr lang="en-US" sz="1730">
                  <a:solidFill>
                    <a:srgbClr val="000000"/>
                  </a:solidFill>
                  <a:latin typeface="Open Sans 2"/>
                  <a:ea typeface="Open Sans 2"/>
                  <a:cs typeface="Open Sans 2"/>
                  <a:sym typeface="Open Sans 2"/>
                </a:rPr>
                <a:t>ESCONDIDO</a:t>
              </a:r>
            </a:p>
          </p:txBody>
        </p:sp>
        <p:grpSp>
          <p:nvGrpSpPr>
            <p:cNvPr name="Group 12" id="12"/>
            <p:cNvGrpSpPr/>
            <p:nvPr/>
          </p:nvGrpSpPr>
          <p:grpSpPr>
            <a:xfrm rot="0">
              <a:off x="8550339" y="0"/>
              <a:ext cx="2752992" cy="2752992"/>
              <a:chOff x="0" y="0"/>
              <a:chExt cx="812800" cy="812800"/>
            </a:xfrm>
          </p:grpSpPr>
          <p:sp>
            <p:nvSpPr>
              <p:cNvPr name="Freeform 13" id="13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lnTo>
                      <a:pt x="406400" y="0"/>
                    </a:lnTo>
                    <a:close/>
                  </a:path>
                </a:pathLst>
              </a:custGeom>
              <a:solidFill>
                <a:srgbClr val="FFFFFF"/>
              </a:solidFill>
              <a:ln w="38100" cap="rnd">
                <a:solidFill>
                  <a:srgbClr val="000000"/>
                </a:solidFill>
                <a:prstDash val="solid"/>
                <a:round/>
              </a:ln>
            </p:spPr>
          </p:sp>
          <p:sp>
            <p:nvSpPr>
              <p:cNvPr name="TextBox 14" id="14"/>
              <p:cNvSpPr txBox="true"/>
              <p:nvPr/>
            </p:nvSpPr>
            <p:spPr>
              <a:xfrm>
                <a:off x="76200" y="47625"/>
                <a:ext cx="660400" cy="688975"/>
              </a:xfrm>
              <a:prstGeom prst="rect">
                <a:avLst/>
              </a:prstGeom>
            </p:spPr>
            <p:txBody>
              <a:bodyPr anchor="ctr" rtlCol="false" tIns="59541" lIns="59541" bIns="59541" rIns="59541"/>
              <a:lstStyle/>
              <a:p>
                <a:pPr algn="ctr">
                  <a:lnSpc>
                    <a:spcPts val="2380"/>
                  </a:lnSpc>
                  <a:spcBef>
                    <a:spcPct val="0"/>
                  </a:spcBef>
                </a:pPr>
              </a:p>
            </p:txBody>
          </p:sp>
        </p:grpSp>
        <p:sp>
          <p:nvSpPr>
            <p:cNvPr name="TextBox 15" id="15"/>
            <p:cNvSpPr txBox="true"/>
            <p:nvPr/>
          </p:nvSpPr>
          <p:spPr>
            <a:xfrm rot="0">
              <a:off x="8508344" y="1173624"/>
              <a:ext cx="2752992" cy="36764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305"/>
                </a:lnSpc>
                <a:spcBef>
                  <a:spcPct val="0"/>
                </a:spcBef>
              </a:pPr>
            </a:p>
          </p:txBody>
        </p:sp>
        <p:sp>
          <p:nvSpPr>
            <p:cNvPr name="TextBox 16" id="16"/>
            <p:cNvSpPr txBox="true"/>
            <p:nvPr/>
          </p:nvSpPr>
          <p:spPr>
            <a:xfrm rot="0">
              <a:off x="8123079" y="1246534"/>
              <a:ext cx="3587639" cy="373869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422"/>
                </a:lnSpc>
                <a:spcBef>
                  <a:spcPct val="0"/>
                </a:spcBef>
              </a:pPr>
              <a:r>
                <a:rPr lang="en-US" sz="1730">
                  <a:solidFill>
                    <a:srgbClr val="000000"/>
                  </a:solidFill>
                  <a:latin typeface="Open Sans 2"/>
                  <a:ea typeface="Open Sans 2"/>
                  <a:cs typeface="Open Sans 2"/>
                  <a:sym typeface="Open Sans 2"/>
                </a:rPr>
                <a:t>CAINDO</a:t>
              </a:r>
            </a:p>
          </p:txBody>
        </p:sp>
        <p:grpSp>
          <p:nvGrpSpPr>
            <p:cNvPr name="Group 17" id="17"/>
            <p:cNvGrpSpPr/>
            <p:nvPr/>
          </p:nvGrpSpPr>
          <p:grpSpPr>
            <a:xfrm rot="0">
              <a:off x="12252772" y="1019832"/>
              <a:ext cx="2846754" cy="754695"/>
              <a:chOff x="0" y="0"/>
              <a:chExt cx="1848230" cy="489979"/>
            </a:xfrm>
          </p:grpSpPr>
          <p:sp>
            <p:nvSpPr>
              <p:cNvPr name="Freeform 18" id="18"/>
              <p:cNvSpPr/>
              <p:nvPr/>
            </p:nvSpPr>
            <p:spPr>
              <a:xfrm flipH="false" flipV="false" rot="0">
                <a:off x="0" y="0"/>
                <a:ext cx="1848230" cy="489979"/>
              </a:xfrm>
              <a:custGeom>
                <a:avLst/>
                <a:gdLst/>
                <a:ahLst/>
                <a:cxnLst/>
                <a:rect r="r" b="b" t="t" l="l"/>
                <a:pathLst>
                  <a:path h="489979" w="1848230">
                    <a:moveTo>
                      <a:pt x="1848230" y="244990"/>
                    </a:moveTo>
                    <a:lnTo>
                      <a:pt x="1441831" y="0"/>
                    </a:lnTo>
                    <a:lnTo>
                      <a:pt x="1441831" y="203200"/>
                    </a:lnTo>
                    <a:lnTo>
                      <a:pt x="0" y="203200"/>
                    </a:lnTo>
                    <a:lnTo>
                      <a:pt x="0" y="286779"/>
                    </a:lnTo>
                    <a:lnTo>
                      <a:pt x="1441831" y="286779"/>
                    </a:lnTo>
                    <a:lnTo>
                      <a:pt x="1441831" y="489979"/>
                    </a:lnTo>
                    <a:lnTo>
                      <a:pt x="1848230" y="244990"/>
                    </a:lnTo>
                    <a:close/>
                  </a:path>
                </a:pathLst>
              </a:custGeom>
              <a:solidFill>
                <a:srgbClr val="FFFFFF"/>
              </a:solidFill>
              <a:ln w="38100" cap="sq">
                <a:solidFill>
                  <a:srgbClr val="000000"/>
                </a:solidFill>
                <a:prstDash val="solid"/>
                <a:miter/>
              </a:ln>
            </p:spPr>
          </p:sp>
          <p:sp>
            <p:nvSpPr>
              <p:cNvPr name="TextBox 19" id="19"/>
              <p:cNvSpPr txBox="true"/>
              <p:nvPr/>
            </p:nvSpPr>
            <p:spPr>
              <a:xfrm>
                <a:off x="0" y="165100"/>
                <a:ext cx="1746630" cy="121679"/>
              </a:xfrm>
              <a:prstGeom prst="rect">
                <a:avLst/>
              </a:prstGeom>
            </p:spPr>
            <p:txBody>
              <a:bodyPr anchor="ctr" rtlCol="false" tIns="68209" lIns="68209" bIns="68209" rIns="68209"/>
              <a:lstStyle/>
              <a:p>
                <a:pPr algn="ctr">
                  <a:lnSpc>
                    <a:spcPts val="2659"/>
                  </a:lnSpc>
                  <a:spcBef>
                    <a:spcPct val="0"/>
                  </a:spcBef>
                </a:pPr>
              </a:p>
            </p:txBody>
          </p:sp>
        </p:grpSp>
        <p:grpSp>
          <p:nvGrpSpPr>
            <p:cNvPr name="Group 20" id="20"/>
            <p:cNvGrpSpPr/>
            <p:nvPr/>
          </p:nvGrpSpPr>
          <p:grpSpPr>
            <a:xfrm rot="0">
              <a:off x="16090250" y="208116"/>
              <a:ext cx="2736802" cy="2736802"/>
              <a:chOff x="0" y="0"/>
              <a:chExt cx="812800" cy="812800"/>
            </a:xfrm>
          </p:grpSpPr>
          <p:sp>
            <p:nvSpPr>
              <p:cNvPr name="Freeform 21" id="21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lnTo>
                      <a:pt x="406400" y="0"/>
                    </a:lnTo>
                    <a:close/>
                  </a:path>
                </a:pathLst>
              </a:custGeom>
              <a:solidFill>
                <a:srgbClr val="FFFFFF"/>
              </a:solidFill>
              <a:ln w="38100" cap="rnd">
                <a:solidFill>
                  <a:srgbClr val="000000"/>
                </a:solidFill>
                <a:prstDash val="solid"/>
                <a:round/>
              </a:ln>
            </p:spPr>
          </p:sp>
          <p:sp>
            <p:nvSpPr>
              <p:cNvPr name="TextBox 22" id="22"/>
              <p:cNvSpPr txBox="true"/>
              <p:nvPr/>
            </p:nvSpPr>
            <p:spPr>
              <a:xfrm>
                <a:off x="76200" y="38100"/>
                <a:ext cx="660400" cy="698500"/>
              </a:xfrm>
              <a:prstGeom prst="rect">
                <a:avLst/>
              </a:prstGeom>
            </p:spPr>
            <p:txBody>
              <a:bodyPr anchor="ctr" rtlCol="false" tIns="59191" lIns="59191" bIns="59191" rIns="59191"/>
              <a:lstStyle/>
              <a:p>
                <a:pPr algn="ctr">
                  <a:lnSpc>
                    <a:spcPts val="2660"/>
                  </a:lnSpc>
                  <a:spcBef>
                    <a:spcPct val="0"/>
                  </a:spcBef>
                </a:pPr>
              </a:p>
            </p:txBody>
          </p:sp>
        </p:grpSp>
        <p:sp>
          <p:nvSpPr>
            <p:cNvPr name="TextBox 23" id="23"/>
            <p:cNvSpPr txBox="true"/>
            <p:nvPr/>
          </p:nvSpPr>
          <p:spPr>
            <a:xfrm rot="0">
              <a:off x="16048502" y="1384139"/>
              <a:ext cx="2736802" cy="35618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292"/>
                </a:lnSpc>
                <a:spcBef>
                  <a:spcPct val="0"/>
                </a:spcBef>
              </a:pPr>
              <a:r>
                <a:rPr lang="en-US" sz="1637">
                  <a:solidFill>
                    <a:srgbClr val="000000"/>
                  </a:solidFill>
                  <a:latin typeface="Open Sans 2"/>
                  <a:ea typeface="Open Sans 2"/>
                  <a:cs typeface="Open Sans 2"/>
                  <a:sym typeface="Open Sans 2"/>
                </a:rPr>
                <a:t>PARADO</a:t>
              </a:r>
            </a:p>
          </p:txBody>
        </p:sp>
        <p:sp>
          <p:nvSpPr>
            <p:cNvPr name="TextBox 24" id="24"/>
            <p:cNvSpPr txBox="true"/>
            <p:nvPr/>
          </p:nvSpPr>
          <p:spPr>
            <a:xfrm rot="0">
              <a:off x="5217095" y="558156"/>
              <a:ext cx="2736802" cy="33973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174"/>
                </a:lnSpc>
                <a:spcBef>
                  <a:spcPct val="0"/>
                </a:spcBef>
              </a:pPr>
              <a:r>
                <a:rPr lang="en-US" sz="1553">
                  <a:solidFill>
                    <a:srgbClr val="000000"/>
                  </a:solidFill>
                  <a:latin typeface="Open Sans 2"/>
                  <a:ea typeface="Open Sans 2"/>
                  <a:cs typeface="Open Sans 2"/>
                  <a:sym typeface="Open Sans 2"/>
                </a:rPr>
                <a:t>SALA FECHOU</a:t>
              </a:r>
            </a:p>
          </p:txBody>
        </p:sp>
        <p:sp>
          <p:nvSpPr>
            <p:cNvPr name="TextBox 25" id="25"/>
            <p:cNvSpPr txBox="true"/>
            <p:nvPr/>
          </p:nvSpPr>
          <p:spPr>
            <a:xfrm rot="0">
              <a:off x="12042660" y="537707"/>
              <a:ext cx="2716411" cy="340143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157"/>
                </a:lnSpc>
                <a:spcBef>
                  <a:spcPct val="0"/>
                </a:spcBef>
              </a:pPr>
              <a:r>
                <a:rPr lang="en-US" sz="1540">
                  <a:solidFill>
                    <a:srgbClr val="000000"/>
                  </a:solidFill>
                  <a:latin typeface="Open Sans 2"/>
                  <a:ea typeface="Open Sans 2"/>
                  <a:cs typeface="Open Sans 2"/>
                  <a:sym typeface="Open Sans 2"/>
                </a:rPr>
                <a:t>PLAYER LONGE</a:t>
              </a:r>
            </a:p>
          </p:txBody>
        </p:sp>
        <p:grpSp>
          <p:nvGrpSpPr>
            <p:cNvPr name="Group 26" id="26"/>
            <p:cNvGrpSpPr/>
            <p:nvPr/>
          </p:nvGrpSpPr>
          <p:grpSpPr>
            <a:xfrm rot="0">
              <a:off x="5298511" y="999148"/>
              <a:ext cx="2573970" cy="754695"/>
              <a:chOff x="0" y="0"/>
              <a:chExt cx="1671127" cy="489979"/>
            </a:xfrm>
          </p:grpSpPr>
          <p:sp>
            <p:nvSpPr>
              <p:cNvPr name="Freeform 27" id="27"/>
              <p:cNvSpPr/>
              <p:nvPr/>
            </p:nvSpPr>
            <p:spPr>
              <a:xfrm flipH="false" flipV="false" rot="0">
                <a:off x="0" y="0"/>
                <a:ext cx="1671127" cy="489979"/>
              </a:xfrm>
              <a:custGeom>
                <a:avLst/>
                <a:gdLst/>
                <a:ahLst/>
                <a:cxnLst/>
                <a:rect r="r" b="b" t="t" l="l"/>
                <a:pathLst>
                  <a:path h="489979" w="1671127">
                    <a:moveTo>
                      <a:pt x="1671127" y="244990"/>
                    </a:moveTo>
                    <a:lnTo>
                      <a:pt x="1264727" y="0"/>
                    </a:lnTo>
                    <a:lnTo>
                      <a:pt x="1264727" y="203200"/>
                    </a:lnTo>
                    <a:lnTo>
                      <a:pt x="0" y="203200"/>
                    </a:lnTo>
                    <a:lnTo>
                      <a:pt x="0" y="286779"/>
                    </a:lnTo>
                    <a:lnTo>
                      <a:pt x="1264727" y="286779"/>
                    </a:lnTo>
                    <a:lnTo>
                      <a:pt x="1264727" y="489979"/>
                    </a:lnTo>
                    <a:lnTo>
                      <a:pt x="1671127" y="244990"/>
                    </a:lnTo>
                    <a:close/>
                  </a:path>
                </a:pathLst>
              </a:custGeom>
              <a:solidFill>
                <a:srgbClr val="FFFFFF"/>
              </a:solidFill>
              <a:ln w="38100" cap="sq">
                <a:solidFill>
                  <a:srgbClr val="000000"/>
                </a:solidFill>
                <a:prstDash val="solid"/>
                <a:miter/>
              </a:ln>
            </p:spPr>
          </p:sp>
          <p:sp>
            <p:nvSpPr>
              <p:cNvPr name="TextBox 28" id="28"/>
              <p:cNvSpPr txBox="true"/>
              <p:nvPr/>
            </p:nvSpPr>
            <p:spPr>
              <a:xfrm>
                <a:off x="0" y="165100"/>
                <a:ext cx="1569527" cy="121679"/>
              </a:xfrm>
              <a:prstGeom prst="rect">
                <a:avLst/>
              </a:prstGeom>
            </p:spPr>
            <p:txBody>
              <a:bodyPr anchor="ctr" rtlCol="false" tIns="68209" lIns="68209" bIns="68209" rIns="68209"/>
              <a:lstStyle/>
              <a:p>
                <a:pPr algn="ctr">
                  <a:lnSpc>
                    <a:spcPts val="2659"/>
                  </a:lnSpc>
                  <a:spcBef>
                    <a:spcPct val="0"/>
                  </a:spcBef>
                </a:pPr>
              </a:p>
            </p:txBody>
          </p:sp>
        </p:grpSp>
        <p:grpSp>
          <p:nvGrpSpPr>
            <p:cNvPr name="Group 29" id="29"/>
            <p:cNvGrpSpPr/>
            <p:nvPr/>
          </p:nvGrpSpPr>
          <p:grpSpPr>
            <a:xfrm rot="7875940">
              <a:off x="14562018" y="3685815"/>
              <a:ext cx="2823862" cy="754695"/>
              <a:chOff x="0" y="0"/>
              <a:chExt cx="1833368" cy="489979"/>
            </a:xfrm>
          </p:grpSpPr>
          <p:sp>
            <p:nvSpPr>
              <p:cNvPr name="Freeform 30" id="30"/>
              <p:cNvSpPr/>
              <p:nvPr/>
            </p:nvSpPr>
            <p:spPr>
              <a:xfrm flipH="false" flipV="false" rot="0">
                <a:off x="0" y="0"/>
                <a:ext cx="1833368" cy="489979"/>
              </a:xfrm>
              <a:custGeom>
                <a:avLst/>
                <a:gdLst/>
                <a:ahLst/>
                <a:cxnLst/>
                <a:rect r="r" b="b" t="t" l="l"/>
                <a:pathLst>
                  <a:path h="489979" w="1833368">
                    <a:moveTo>
                      <a:pt x="1833368" y="244990"/>
                    </a:moveTo>
                    <a:lnTo>
                      <a:pt x="1426968" y="0"/>
                    </a:lnTo>
                    <a:lnTo>
                      <a:pt x="1426968" y="203200"/>
                    </a:lnTo>
                    <a:lnTo>
                      <a:pt x="0" y="203200"/>
                    </a:lnTo>
                    <a:lnTo>
                      <a:pt x="0" y="286779"/>
                    </a:lnTo>
                    <a:lnTo>
                      <a:pt x="1426968" y="286779"/>
                    </a:lnTo>
                    <a:lnTo>
                      <a:pt x="1426968" y="489979"/>
                    </a:lnTo>
                    <a:lnTo>
                      <a:pt x="1833368" y="244990"/>
                    </a:lnTo>
                    <a:close/>
                  </a:path>
                </a:pathLst>
              </a:custGeom>
              <a:solidFill>
                <a:srgbClr val="FFFFFF"/>
              </a:solidFill>
              <a:ln w="38100" cap="sq">
                <a:solidFill>
                  <a:srgbClr val="000000"/>
                </a:solidFill>
                <a:prstDash val="solid"/>
                <a:miter/>
              </a:ln>
            </p:spPr>
          </p:sp>
          <p:sp>
            <p:nvSpPr>
              <p:cNvPr name="TextBox 31" id="31"/>
              <p:cNvSpPr txBox="true"/>
              <p:nvPr/>
            </p:nvSpPr>
            <p:spPr>
              <a:xfrm>
                <a:off x="0" y="165100"/>
                <a:ext cx="1731768" cy="121679"/>
              </a:xfrm>
              <a:prstGeom prst="rect">
                <a:avLst/>
              </a:prstGeom>
            </p:spPr>
            <p:txBody>
              <a:bodyPr anchor="ctr" rtlCol="false" tIns="68209" lIns="68209" bIns="68209" rIns="68209"/>
              <a:lstStyle/>
              <a:p>
                <a:pPr algn="ctr">
                  <a:lnSpc>
                    <a:spcPts val="2659"/>
                  </a:lnSpc>
                  <a:spcBef>
                    <a:spcPct val="0"/>
                  </a:spcBef>
                </a:pPr>
              </a:p>
            </p:txBody>
          </p:sp>
        </p:grpSp>
        <p:grpSp>
          <p:nvGrpSpPr>
            <p:cNvPr name="Group 32" id="32"/>
            <p:cNvGrpSpPr/>
            <p:nvPr/>
          </p:nvGrpSpPr>
          <p:grpSpPr>
            <a:xfrm rot="0">
              <a:off x="12841369" y="4946563"/>
              <a:ext cx="2752992" cy="2752992"/>
              <a:chOff x="0" y="0"/>
              <a:chExt cx="812800" cy="812800"/>
            </a:xfrm>
          </p:grpSpPr>
          <p:sp>
            <p:nvSpPr>
              <p:cNvPr name="Freeform 33" id="33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lnTo>
                      <a:pt x="406400" y="0"/>
                    </a:lnTo>
                    <a:close/>
                  </a:path>
                </a:pathLst>
              </a:custGeom>
              <a:solidFill>
                <a:srgbClr val="FFFFFF"/>
              </a:solidFill>
              <a:ln w="38100" cap="rnd">
                <a:solidFill>
                  <a:srgbClr val="000000"/>
                </a:solidFill>
                <a:prstDash val="solid"/>
                <a:round/>
              </a:ln>
            </p:spPr>
          </p:sp>
          <p:sp>
            <p:nvSpPr>
              <p:cNvPr name="TextBox 34" id="34"/>
              <p:cNvSpPr txBox="true"/>
              <p:nvPr/>
            </p:nvSpPr>
            <p:spPr>
              <a:xfrm>
                <a:off x="76200" y="47625"/>
                <a:ext cx="660400" cy="688975"/>
              </a:xfrm>
              <a:prstGeom prst="rect">
                <a:avLst/>
              </a:prstGeom>
            </p:spPr>
            <p:txBody>
              <a:bodyPr anchor="ctr" rtlCol="false" tIns="59541" lIns="59541" bIns="59541" rIns="59541"/>
              <a:lstStyle/>
              <a:p>
                <a:pPr algn="ctr">
                  <a:lnSpc>
                    <a:spcPts val="2380"/>
                  </a:lnSpc>
                  <a:spcBef>
                    <a:spcPct val="0"/>
                  </a:spcBef>
                </a:pPr>
              </a:p>
            </p:txBody>
          </p:sp>
        </p:grpSp>
        <p:sp>
          <p:nvSpPr>
            <p:cNvPr name="TextBox 35" id="35"/>
            <p:cNvSpPr txBox="true"/>
            <p:nvPr/>
          </p:nvSpPr>
          <p:spPr>
            <a:xfrm rot="0">
              <a:off x="12799374" y="6120186"/>
              <a:ext cx="2752992" cy="36764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305"/>
                </a:lnSpc>
                <a:spcBef>
                  <a:spcPct val="0"/>
                </a:spcBef>
              </a:pPr>
            </a:p>
          </p:txBody>
        </p:sp>
        <p:sp>
          <p:nvSpPr>
            <p:cNvPr name="TextBox 36" id="36"/>
            <p:cNvSpPr txBox="true"/>
            <p:nvPr/>
          </p:nvSpPr>
          <p:spPr>
            <a:xfrm rot="0">
              <a:off x="12414110" y="6193096"/>
              <a:ext cx="3587639" cy="373869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422"/>
                </a:lnSpc>
                <a:spcBef>
                  <a:spcPct val="0"/>
                </a:spcBef>
              </a:pPr>
              <a:r>
                <a:rPr lang="en-US" sz="1730">
                  <a:solidFill>
                    <a:srgbClr val="000000"/>
                  </a:solidFill>
                  <a:latin typeface="Open Sans 2"/>
                  <a:ea typeface="Open Sans 2"/>
                  <a:cs typeface="Open Sans 2"/>
                  <a:sym typeface="Open Sans 2"/>
                </a:rPr>
                <a:t>PERSEGUINDO</a:t>
              </a:r>
            </a:p>
          </p:txBody>
        </p:sp>
        <p:grpSp>
          <p:nvGrpSpPr>
            <p:cNvPr name="Group 37" id="37"/>
            <p:cNvGrpSpPr/>
            <p:nvPr/>
          </p:nvGrpSpPr>
          <p:grpSpPr>
            <a:xfrm rot="2869215">
              <a:off x="10617022" y="3510460"/>
              <a:ext cx="3311895" cy="754695"/>
              <a:chOff x="0" y="0"/>
              <a:chExt cx="2150219" cy="489979"/>
            </a:xfrm>
          </p:grpSpPr>
          <p:sp>
            <p:nvSpPr>
              <p:cNvPr name="Freeform 38" id="38"/>
              <p:cNvSpPr/>
              <p:nvPr/>
            </p:nvSpPr>
            <p:spPr>
              <a:xfrm flipH="false" flipV="false" rot="0">
                <a:off x="0" y="0"/>
                <a:ext cx="2150219" cy="489979"/>
              </a:xfrm>
              <a:custGeom>
                <a:avLst/>
                <a:gdLst/>
                <a:ahLst/>
                <a:cxnLst/>
                <a:rect r="r" b="b" t="t" l="l"/>
                <a:pathLst>
                  <a:path h="489979" w="2150219">
                    <a:moveTo>
                      <a:pt x="2150219" y="244990"/>
                    </a:moveTo>
                    <a:lnTo>
                      <a:pt x="1743819" y="0"/>
                    </a:lnTo>
                    <a:lnTo>
                      <a:pt x="1743819" y="203200"/>
                    </a:lnTo>
                    <a:lnTo>
                      <a:pt x="0" y="203200"/>
                    </a:lnTo>
                    <a:lnTo>
                      <a:pt x="0" y="286779"/>
                    </a:lnTo>
                    <a:lnTo>
                      <a:pt x="1743819" y="286779"/>
                    </a:lnTo>
                    <a:lnTo>
                      <a:pt x="1743819" y="489979"/>
                    </a:lnTo>
                    <a:lnTo>
                      <a:pt x="2150219" y="244990"/>
                    </a:lnTo>
                    <a:close/>
                  </a:path>
                </a:pathLst>
              </a:custGeom>
              <a:solidFill>
                <a:srgbClr val="FFFFFF"/>
              </a:solidFill>
              <a:ln w="38100" cap="sq">
                <a:solidFill>
                  <a:srgbClr val="000000"/>
                </a:solidFill>
                <a:prstDash val="solid"/>
                <a:miter/>
              </a:ln>
            </p:spPr>
          </p:sp>
          <p:sp>
            <p:nvSpPr>
              <p:cNvPr name="TextBox 39" id="39"/>
              <p:cNvSpPr txBox="true"/>
              <p:nvPr/>
            </p:nvSpPr>
            <p:spPr>
              <a:xfrm>
                <a:off x="0" y="165100"/>
                <a:ext cx="2048619" cy="121679"/>
              </a:xfrm>
              <a:prstGeom prst="rect">
                <a:avLst/>
              </a:prstGeom>
            </p:spPr>
            <p:txBody>
              <a:bodyPr anchor="ctr" rtlCol="false" tIns="68209" lIns="68209" bIns="68209" rIns="68209"/>
              <a:lstStyle/>
              <a:p>
                <a:pPr algn="ctr">
                  <a:lnSpc>
                    <a:spcPts val="2659"/>
                  </a:lnSpc>
                  <a:spcBef>
                    <a:spcPct val="0"/>
                  </a:spcBef>
                </a:pPr>
              </a:p>
            </p:txBody>
          </p:sp>
        </p:grpSp>
        <p:sp>
          <p:nvSpPr>
            <p:cNvPr name="TextBox 40" id="40"/>
            <p:cNvSpPr txBox="true"/>
            <p:nvPr/>
          </p:nvSpPr>
          <p:spPr>
            <a:xfrm rot="2922973">
              <a:off x="11272995" y="3323196"/>
              <a:ext cx="2716411" cy="340143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157"/>
                </a:lnSpc>
                <a:spcBef>
                  <a:spcPct val="0"/>
                </a:spcBef>
              </a:pPr>
              <a:r>
                <a:rPr lang="en-US" sz="1540">
                  <a:solidFill>
                    <a:srgbClr val="000000"/>
                  </a:solidFill>
                  <a:latin typeface="Open Sans 2"/>
                  <a:ea typeface="Open Sans 2"/>
                  <a:cs typeface="Open Sans 2"/>
                  <a:sym typeface="Open Sans 2"/>
                </a:rPr>
                <a:t>PLAYER PROXIMO</a:t>
              </a:r>
            </a:p>
          </p:txBody>
        </p:sp>
        <p:sp>
          <p:nvSpPr>
            <p:cNvPr name="TextBox 41" id="41"/>
            <p:cNvSpPr txBox="true"/>
            <p:nvPr/>
          </p:nvSpPr>
          <p:spPr>
            <a:xfrm rot="-2907122">
              <a:off x="14159573" y="3385896"/>
              <a:ext cx="2716411" cy="340143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157"/>
                </a:lnSpc>
                <a:spcBef>
                  <a:spcPct val="0"/>
                </a:spcBef>
              </a:pPr>
              <a:r>
                <a:rPr lang="en-US" sz="1540">
                  <a:solidFill>
                    <a:srgbClr val="000000"/>
                  </a:solidFill>
                  <a:latin typeface="Open Sans 2"/>
                  <a:ea typeface="Open Sans 2"/>
                  <a:cs typeface="Open Sans 2"/>
                  <a:sym typeface="Open Sans 2"/>
                </a:rPr>
                <a:t>PLAYER PROXIMO</a:t>
              </a:r>
            </a:p>
          </p:txBody>
        </p:sp>
        <p:grpSp>
          <p:nvGrpSpPr>
            <p:cNvPr name="Group 42" id="42"/>
            <p:cNvGrpSpPr/>
            <p:nvPr/>
          </p:nvGrpSpPr>
          <p:grpSpPr>
            <a:xfrm rot="0">
              <a:off x="4080113" y="4946563"/>
              <a:ext cx="2752992" cy="2752992"/>
              <a:chOff x="0" y="0"/>
              <a:chExt cx="812800" cy="812800"/>
            </a:xfrm>
          </p:grpSpPr>
          <p:sp>
            <p:nvSpPr>
              <p:cNvPr name="Freeform 43" id="43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lnTo>
                      <a:pt x="406400" y="0"/>
                    </a:lnTo>
                    <a:close/>
                  </a:path>
                </a:pathLst>
              </a:custGeom>
              <a:solidFill>
                <a:srgbClr val="FFFFFF"/>
              </a:solidFill>
              <a:ln w="38100" cap="rnd">
                <a:solidFill>
                  <a:srgbClr val="000000"/>
                </a:solidFill>
                <a:prstDash val="solid"/>
                <a:round/>
              </a:ln>
            </p:spPr>
          </p:sp>
          <p:sp>
            <p:nvSpPr>
              <p:cNvPr name="TextBox 44" id="44"/>
              <p:cNvSpPr txBox="true"/>
              <p:nvPr/>
            </p:nvSpPr>
            <p:spPr>
              <a:xfrm>
                <a:off x="76200" y="47625"/>
                <a:ext cx="660400" cy="688975"/>
              </a:xfrm>
              <a:prstGeom prst="rect">
                <a:avLst/>
              </a:prstGeom>
            </p:spPr>
            <p:txBody>
              <a:bodyPr anchor="ctr" rtlCol="false" tIns="59541" lIns="59541" bIns="59541" rIns="59541"/>
              <a:lstStyle/>
              <a:p>
                <a:pPr algn="ctr">
                  <a:lnSpc>
                    <a:spcPts val="2380"/>
                  </a:lnSpc>
                  <a:spcBef>
                    <a:spcPct val="0"/>
                  </a:spcBef>
                </a:pPr>
              </a:p>
            </p:txBody>
          </p:sp>
        </p:grpSp>
        <p:sp>
          <p:nvSpPr>
            <p:cNvPr name="TextBox 45" id="45"/>
            <p:cNvSpPr txBox="true"/>
            <p:nvPr/>
          </p:nvSpPr>
          <p:spPr>
            <a:xfrm rot="0">
              <a:off x="4038118" y="6120186"/>
              <a:ext cx="2752992" cy="36764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305"/>
                </a:lnSpc>
                <a:spcBef>
                  <a:spcPct val="0"/>
                </a:spcBef>
              </a:pPr>
            </a:p>
          </p:txBody>
        </p:sp>
        <p:sp>
          <p:nvSpPr>
            <p:cNvPr name="TextBox 46" id="46"/>
            <p:cNvSpPr txBox="true"/>
            <p:nvPr/>
          </p:nvSpPr>
          <p:spPr>
            <a:xfrm rot="0">
              <a:off x="3652854" y="6193096"/>
              <a:ext cx="3587639" cy="373869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422"/>
                </a:lnSpc>
                <a:spcBef>
                  <a:spcPct val="0"/>
                </a:spcBef>
              </a:pPr>
              <a:r>
                <a:rPr lang="en-US" sz="1730">
                  <a:solidFill>
                    <a:srgbClr val="000000"/>
                  </a:solidFill>
                  <a:latin typeface="Open Sans 2"/>
                  <a:ea typeface="Open Sans 2"/>
                  <a:cs typeface="Open Sans 2"/>
                  <a:sym typeface="Open Sans 2"/>
                </a:rPr>
                <a:t>TELEPORTANDO</a:t>
              </a:r>
            </a:p>
          </p:txBody>
        </p:sp>
        <p:grpSp>
          <p:nvGrpSpPr>
            <p:cNvPr name="Group 47" id="47"/>
            <p:cNvGrpSpPr/>
            <p:nvPr/>
          </p:nvGrpSpPr>
          <p:grpSpPr>
            <a:xfrm rot="-2397004">
              <a:off x="5597375" y="3248437"/>
              <a:ext cx="3615872" cy="754695"/>
              <a:chOff x="0" y="0"/>
              <a:chExt cx="2347573" cy="489979"/>
            </a:xfrm>
          </p:grpSpPr>
          <p:sp>
            <p:nvSpPr>
              <p:cNvPr name="Freeform 48" id="48"/>
              <p:cNvSpPr/>
              <p:nvPr/>
            </p:nvSpPr>
            <p:spPr>
              <a:xfrm flipH="false" flipV="false" rot="0">
                <a:off x="0" y="0"/>
                <a:ext cx="2347573" cy="489979"/>
              </a:xfrm>
              <a:custGeom>
                <a:avLst/>
                <a:gdLst/>
                <a:ahLst/>
                <a:cxnLst/>
                <a:rect r="r" b="b" t="t" l="l"/>
                <a:pathLst>
                  <a:path h="489979" w="2347573">
                    <a:moveTo>
                      <a:pt x="2347573" y="244990"/>
                    </a:moveTo>
                    <a:lnTo>
                      <a:pt x="1941173" y="0"/>
                    </a:lnTo>
                    <a:lnTo>
                      <a:pt x="1941173" y="203200"/>
                    </a:lnTo>
                    <a:lnTo>
                      <a:pt x="0" y="203200"/>
                    </a:lnTo>
                    <a:lnTo>
                      <a:pt x="0" y="286779"/>
                    </a:lnTo>
                    <a:lnTo>
                      <a:pt x="1941173" y="286779"/>
                    </a:lnTo>
                    <a:lnTo>
                      <a:pt x="1941173" y="489979"/>
                    </a:lnTo>
                    <a:lnTo>
                      <a:pt x="2347573" y="244990"/>
                    </a:lnTo>
                    <a:close/>
                  </a:path>
                </a:pathLst>
              </a:custGeom>
              <a:solidFill>
                <a:srgbClr val="FFFFFF"/>
              </a:solidFill>
              <a:ln w="38100" cap="sq">
                <a:solidFill>
                  <a:srgbClr val="000000"/>
                </a:solidFill>
                <a:prstDash val="solid"/>
                <a:miter/>
              </a:ln>
            </p:spPr>
          </p:sp>
          <p:sp>
            <p:nvSpPr>
              <p:cNvPr name="TextBox 49" id="49"/>
              <p:cNvSpPr txBox="true"/>
              <p:nvPr/>
            </p:nvSpPr>
            <p:spPr>
              <a:xfrm>
                <a:off x="0" y="165100"/>
                <a:ext cx="2245973" cy="121679"/>
              </a:xfrm>
              <a:prstGeom prst="rect">
                <a:avLst/>
              </a:prstGeom>
            </p:spPr>
            <p:txBody>
              <a:bodyPr anchor="ctr" rtlCol="false" tIns="68209" lIns="68209" bIns="68209" rIns="68209"/>
              <a:lstStyle/>
              <a:p>
                <a:pPr algn="ctr">
                  <a:lnSpc>
                    <a:spcPts val="2659"/>
                  </a:lnSpc>
                  <a:spcBef>
                    <a:spcPct val="0"/>
                  </a:spcBef>
                </a:pPr>
              </a:p>
            </p:txBody>
          </p:sp>
        </p:grpSp>
        <p:sp>
          <p:nvSpPr>
            <p:cNvPr name="TextBox 50" id="50"/>
            <p:cNvSpPr txBox="true"/>
            <p:nvPr/>
          </p:nvSpPr>
          <p:spPr>
            <a:xfrm rot="-2414171">
              <a:off x="5205427" y="3019886"/>
              <a:ext cx="3357223" cy="340143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157"/>
                </a:lnSpc>
                <a:spcBef>
                  <a:spcPct val="0"/>
                </a:spcBef>
              </a:pPr>
              <a:r>
                <a:rPr lang="en-US" sz="1540">
                  <a:solidFill>
                    <a:srgbClr val="000000"/>
                  </a:solidFill>
                  <a:latin typeface="Open Sans 2"/>
                  <a:ea typeface="Open Sans 2"/>
                  <a:cs typeface="Open Sans 2"/>
                  <a:sym typeface="Open Sans 2"/>
                </a:rPr>
                <a:t>FICA EM CIMA DO PLAYER</a:t>
              </a:r>
            </a:p>
          </p:txBody>
        </p:sp>
        <p:grpSp>
          <p:nvGrpSpPr>
            <p:cNvPr name="Group 51" id="51"/>
            <p:cNvGrpSpPr/>
            <p:nvPr/>
          </p:nvGrpSpPr>
          <p:grpSpPr>
            <a:xfrm rot="-10800000">
              <a:off x="6837946" y="5945711"/>
              <a:ext cx="5296405" cy="754695"/>
              <a:chOff x="0" y="0"/>
              <a:chExt cx="3438645" cy="489979"/>
            </a:xfrm>
          </p:grpSpPr>
          <p:sp>
            <p:nvSpPr>
              <p:cNvPr name="Freeform 52" id="52"/>
              <p:cNvSpPr/>
              <p:nvPr/>
            </p:nvSpPr>
            <p:spPr>
              <a:xfrm flipH="false" flipV="false" rot="0">
                <a:off x="0" y="0"/>
                <a:ext cx="3438645" cy="489979"/>
              </a:xfrm>
              <a:custGeom>
                <a:avLst/>
                <a:gdLst/>
                <a:ahLst/>
                <a:cxnLst/>
                <a:rect r="r" b="b" t="t" l="l"/>
                <a:pathLst>
                  <a:path h="489979" w="3438645">
                    <a:moveTo>
                      <a:pt x="3438645" y="244990"/>
                    </a:moveTo>
                    <a:lnTo>
                      <a:pt x="3032245" y="0"/>
                    </a:lnTo>
                    <a:lnTo>
                      <a:pt x="3032245" y="203200"/>
                    </a:lnTo>
                    <a:lnTo>
                      <a:pt x="0" y="203200"/>
                    </a:lnTo>
                    <a:lnTo>
                      <a:pt x="0" y="286779"/>
                    </a:lnTo>
                    <a:lnTo>
                      <a:pt x="3032245" y="286779"/>
                    </a:lnTo>
                    <a:lnTo>
                      <a:pt x="3032245" y="489979"/>
                    </a:lnTo>
                    <a:lnTo>
                      <a:pt x="3438645" y="244990"/>
                    </a:lnTo>
                    <a:close/>
                  </a:path>
                </a:pathLst>
              </a:custGeom>
              <a:solidFill>
                <a:srgbClr val="FFFFFF"/>
              </a:solidFill>
              <a:ln w="38100" cap="sq">
                <a:solidFill>
                  <a:srgbClr val="000000"/>
                </a:solidFill>
                <a:prstDash val="solid"/>
                <a:miter/>
              </a:ln>
            </p:spPr>
          </p:sp>
          <p:sp>
            <p:nvSpPr>
              <p:cNvPr name="TextBox 53" id="53"/>
              <p:cNvSpPr txBox="true"/>
              <p:nvPr/>
            </p:nvSpPr>
            <p:spPr>
              <a:xfrm>
                <a:off x="0" y="165100"/>
                <a:ext cx="3337045" cy="121679"/>
              </a:xfrm>
              <a:prstGeom prst="rect">
                <a:avLst/>
              </a:prstGeom>
            </p:spPr>
            <p:txBody>
              <a:bodyPr anchor="ctr" rtlCol="false" tIns="68209" lIns="68209" bIns="68209" rIns="68209"/>
              <a:lstStyle/>
              <a:p>
                <a:pPr algn="ctr">
                  <a:lnSpc>
                    <a:spcPts val="2659"/>
                  </a:lnSpc>
                  <a:spcBef>
                    <a:spcPct val="0"/>
                  </a:spcBef>
                </a:pPr>
              </a:p>
            </p:txBody>
          </p:sp>
        </p:grpSp>
        <p:sp>
          <p:nvSpPr>
            <p:cNvPr name="TextBox 54" id="54"/>
            <p:cNvSpPr txBox="true"/>
            <p:nvPr/>
          </p:nvSpPr>
          <p:spPr>
            <a:xfrm rot="0">
              <a:off x="7362562" y="5459749"/>
              <a:ext cx="4680098" cy="340143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157"/>
                </a:lnSpc>
                <a:spcBef>
                  <a:spcPct val="0"/>
                </a:spcBef>
              </a:pPr>
              <a:r>
                <a:rPr lang="en-US" sz="1540">
                  <a:solidFill>
                    <a:srgbClr val="000000"/>
                  </a:solidFill>
                  <a:latin typeface="Open Sans 2"/>
                  <a:ea typeface="Open Sans 2"/>
                  <a:cs typeface="Open Sans 2"/>
                  <a:sym typeface="Open Sans 2"/>
                </a:rPr>
                <a:t>PLAYER SE AFASTOU E FOI SORTEADO</a:t>
              </a:r>
            </a:p>
          </p:txBody>
        </p:sp>
        <p:grpSp>
          <p:nvGrpSpPr>
            <p:cNvPr name="Group 55" id="55"/>
            <p:cNvGrpSpPr/>
            <p:nvPr/>
          </p:nvGrpSpPr>
          <p:grpSpPr>
            <a:xfrm rot="0">
              <a:off x="8550339" y="8842516"/>
              <a:ext cx="2752992" cy="2752992"/>
              <a:chOff x="0" y="0"/>
              <a:chExt cx="812800" cy="812800"/>
            </a:xfrm>
          </p:grpSpPr>
          <p:sp>
            <p:nvSpPr>
              <p:cNvPr name="Freeform 56" id="56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lnTo>
                      <a:pt x="406400" y="0"/>
                    </a:lnTo>
                    <a:close/>
                  </a:path>
                </a:pathLst>
              </a:custGeom>
              <a:solidFill>
                <a:srgbClr val="FFFFFF"/>
              </a:solidFill>
              <a:ln w="38100" cap="rnd">
                <a:solidFill>
                  <a:srgbClr val="000000"/>
                </a:solidFill>
                <a:prstDash val="solid"/>
                <a:round/>
              </a:ln>
            </p:spPr>
          </p:sp>
          <p:sp>
            <p:nvSpPr>
              <p:cNvPr name="TextBox 57" id="57"/>
              <p:cNvSpPr txBox="true"/>
              <p:nvPr/>
            </p:nvSpPr>
            <p:spPr>
              <a:xfrm>
                <a:off x="76200" y="47625"/>
                <a:ext cx="660400" cy="688975"/>
              </a:xfrm>
              <a:prstGeom prst="rect">
                <a:avLst/>
              </a:prstGeom>
            </p:spPr>
            <p:txBody>
              <a:bodyPr anchor="ctr" rtlCol="false" tIns="59541" lIns="59541" bIns="59541" rIns="59541"/>
              <a:lstStyle/>
              <a:p>
                <a:pPr algn="ctr">
                  <a:lnSpc>
                    <a:spcPts val="2380"/>
                  </a:lnSpc>
                  <a:spcBef>
                    <a:spcPct val="0"/>
                  </a:spcBef>
                </a:pPr>
              </a:p>
            </p:txBody>
          </p:sp>
        </p:grpSp>
        <p:sp>
          <p:nvSpPr>
            <p:cNvPr name="TextBox 58" id="58"/>
            <p:cNvSpPr txBox="true"/>
            <p:nvPr/>
          </p:nvSpPr>
          <p:spPr>
            <a:xfrm rot="0">
              <a:off x="8508344" y="10016139"/>
              <a:ext cx="2752992" cy="36764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305"/>
                </a:lnSpc>
                <a:spcBef>
                  <a:spcPct val="0"/>
                </a:spcBef>
              </a:pPr>
            </a:p>
          </p:txBody>
        </p:sp>
        <p:sp>
          <p:nvSpPr>
            <p:cNvPr name="TextBox 59" id="59"/>
            <p:cNvSpPr txBox="true"/>
            <p:nvPr/>
          </p:nvSpPr>
          <p:spPr>
            <a:xfrm rot="0">
              <a:off x="8123079" y="10089049"/>
              <a:ext cx="3587639" cy="373869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422"/>
                </a:lnSpc>
                <a:spcBef>
                  <a:spcPct val="0"/>
                </a:spcBef>
              </a:pPr>
              <a:r>
                <a:rPr lang="en-US" sz="1730">
                  <a:solidFill>
                    <a:srgbClr val="000000"/>
                  </a:solidFill>
                  <a:latin typeface="Open Sans 2"/>
                  <a:ea typeface="Open Sans 2"/>
                  <a:cs typeface="Open Sans 2"/>
                  <a:sym typeface="Open Sans 2"/>
                </a:rPr>
                <a:t>DASH</a:t>
              </a:r>
            </a:p>
          </p:txBody>
        </p:sp>
        <p:grpSp>
          <p:nvGrpSpPr>
            <p:cNvPr name="Group 60" id="60"/>
            <p:cNvGrpSpPr/>
            <p:nvPr/>
          </p:nvGrpSpPr>
          <p:grpSpPr>
            <a:xfrm rot="8199509">
              <a:off x="11097704" y="8345764"/>
              <a:ext cx="2606450" cy="756002"/>
              <a:chOff x="0" y="0"/>
              <a:chExt cx="1692215" cy="490827"/>
            </a:xfrm>
          </p:grpSpPr>
          <p:sp>
            <p:nvSpPr>
              <p:cNvPr name="Freeform 61" id="61"/>
              <p:cNvSpPr/>
              <p:nvPr/>
            </p:nvSpPr>
            <p:spPr>
              <a:xfrm flipH="false" flipV="false" rot="0">
                <a:off x="0" y="0"/>
                <a:ext cx="1692215" cy="490827"/>
              </a:xfrm>
              <a:custGeom>
                <a:avLst/>
                <a:gdLst/>
                <a:ahLst/>
                <a:cxnLst/>
                <a:rect r="r" b="b" t="t" l="l"/>
                <a:pathLst>
                  <a:path h="490827" w="1692215">
                    <a:moveTo>
                      <a:pt x="1692215" y="245414"/>
                    </a:moveTo>
                    <a:lnTo>
                      <a:pt x="1285815" y="0"/>
                    </a:lnTo>
                    <a:lnTo>
                      <a:pt x="1285815" y="203200"/>
                    </a:lnTo>
                    <a:lnTo>
                      <a:pt x="0" y="203200"/>
                    </a:lnTo>
                    <a:lnTo>
                      <a:pt x="0" y="287627"/>
                    </a:lnTo>
                    <a:lnTo>
                      <a:pt x="1285815" y="287627"/>
                    </a:lnTo>
                    <a:lnTo>
                      <a:pt x="1285815" y="490827"/>
                    </a:lnTo>
                    <a:lnTo>
                      <a:pt x="1692215" y="245414"/>
                    </a:lnTo>
                    <a:close/>
                  </a:path>
                </a:pathLst>
              </a:custGeom>
              <a:solidFill>
                <a:srgbClr val="FFFFFF"/>
              </a:solidFill>
              <a:ln w="38100" cap="sq">
                <a:solidFill>
                  <a:srgbClr val="000000"/>
                </a:solidFill>
                <a:prstDash val="solid"/>
                <a:miter/>
              </a:ln>
            </p:spPr>
          </p:sp>
          <p:sp>
            <p:nvSpPr>
              <p:cNvPr name="TextBox 62" id="62"/>
              <p:cNvSpPr txBox="true"/>
              <p:nvPr/>
            </p:nvSpPr>
            <p:spPr>
              <a:xfrm>
                <a:off x="0" y="165100"/>
                <a:ext cx="1590615" cy="122527"/>
              </a:xfrm>
              <a:prstGeom prst="rect">
                <a:avLst/>
              </a:prstGeom>
            </p:spPr>
            <p:txBody>
              <a:bodyPr anchor="ctr" rtlCol="false" tIns="68209" lIns="68209" bIns="68209" rIns="68209"/>
              <a:lstStyle/>
              <a:p>
                <a:pPr algn="ctr">
                  <a:lnSpc>
                    <a:spcPts val="2659"/>
                  </a:lnSpc>
                  <a:spcBef>
                    <a:spcPct val="0"/>
                  </a:spcBef>
                </a:pPr>
              </a:p>
            </p:txBody>
          </p:sp>
        </p:grpSp>
        <p:sp>
          <p:nvSpPr>
            <p:cNvPr name="TextBox 63" id="63"/>
            <p:cNvSpPr txBox="true"/>
            <p:nvPr/>
          </p:nvSpPr>
          <p:spPr>
            <a:xfrm rot="-2553149">
              <a:off x="11580071" y="8810426"/>
              <a:ext cx="2716411" cy="703898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157"/>
                </a:lnSpc>
                <a:spcBef>
                  <a:spcPct val="0"/>
                </a:spcBef>
              </a:pPr>
              <a:r>
                <a:rPr lang="en-US" sz="1540">
                  <a:solidFill>
                    <a:srgbClr val="000000"/>
                  </a:solidFill>
                  <a:latin typeface="Open Sans 2"/>
                  <a:ea typeface="Open Sans 2"/>
                  <a:cs typeface="Open Sans 2"/>
                  <a:sym typeface="Open Sans 2"/>
                </a:rPr>
                <a:t>PLAYER SE AFASTOU E FOI SORTEADO</a:t>
              </a:r>
            </a:p>
          </p:txBody>
        </p:sp>
        <p:grpSp>
          <p:nvGrpSpPr>
            <p:cNvPr name="Group 64" id="64"/>
            <p:cNvGrpSpPr/>
            <p:nvPr/>
          </p:nvGrpSpPr>
          <p:grpSpPr>
            <a:xfrm rot="-2570273">
              <a:off x="10739435" y="7785867"/>
              <a:ext cx="2606450" cy="756002"/>
              <a:chOff x="0" y="0"/>
              <a:chExt cx="1692215" cy="490827"/>
            </a:xfrm>
          </p:grpSpPr>
          <p:sp>
            <p:nvSpPr>
              <p:cNvPr name="Freeform 65" id="65"/>
              <p:cNvSpPr/>
              <p:nvPr/>
            </p:nvSpPr>
            <p:spPr>
              <a:xfrm flipH="false" flipV="false" rot="0">
                <a:off x="0" y="0"/>
                <a:ext cx="1692215" cy="490827"/>
              </a:xfrm>
              <a:custGeom>
                <a:avLst/>
                <a:gdLst/>
                <a:ahLst/>
                <a:cxnLst/>
                <a:rect r="r" b="b" t="t" l="l"/>
                <a:pathLst>
                  <a:path h="490827" w="1692215">
                    <a:moveTo>
                      <a:pt x="1692215" y="245414"/>
                    </a:moveTo>
                    <a:lnTo>
                      <a:pt x="1285815" y="0"/>
                    </a:lnTo>
                    <a:lnTo>
                      <a:pt x="1285815" y="203200"/>
                    </a:lnTo>
                    <a:lnTo>
                      <a:pt x="0" y="203200"/>
                    </a:lnTo>
                    <a:lnTo>
                      <a:pt x="0" y="287627"/>
                    </a:lnTo>
                    <a:lnTo>
                      <a:pt x="1285815" y="287627"/>
                    </a:lnTo>
                    <a:lnTo>
                      <a:pt x="1285815" y="490827"/>
                    </a:lnTo>
                    <a:lnTo>
                      <a:pt x="1692215" y="245414"/>
                    </a:lnTo>
                    <a:close/>
                  </a:path>
                </a:pathLst>
              </a:custGeom>
              <a:solidFill>
                <a:srgbClr val="FFFFFF"/>
              </a:solidFill>
              <a:ln w="38100" cap="sq">
                <a:solidFill>
                  <a:srgbClr val="000000"/>
                </a:solidFill>
                <a:prstDash val="solid"/>
                <a:miter/>
              </a:ln>
            </p:spPr>
          </p:sp>
          <p:sp>
            <p:nvSpPr>
              <p:cNvPr name="TextBox 66" id="66"/>
              <p:cNvSpPr txBox="true"/>
              <p:nvPr/>
            </p:nvSpPr>
            <p:spPr>
              <a:xfrm>
                <a:off x="0" y="165100"/>
                <a:ext cx="1590615" cy="122527"/>
              </a:xfrm>
              <a:prstGeom prst="rect">
                <a:avLst/>
              </a:prstGeom>
            </p:spPr>
            <p:txBody>
              <a:bodyPr anchor="ctr" rtlCol="false" tIns="68209" lIns="68209" bIns="68209" rIns="68209"/>
              <a:lstStyle/>
              <a:p>
                <a:pPr algn="ctr">
                  <a:lnSpc>
                    <a:spcPts val="2659"/>
                  </a:lnSpc>
                  <a:spcBef>
                    <a:spcPct val="0"/>
                  </a:spcBef>
                </a:pPr>
              </a:p>
            </p:txBody>
          </p:sp>
        </p:grpSp>
        <p:sp>
          <p:nvSpPr>
            <p:cNvPr name="TextBox 67" id="67"/>
            <p:cNvSpPr txBox="true"/>
            <p:nvPr/>
          </p:nvSpPr>
          <p:spPr>
            <a:xfrm rot="-2503135">
              <a:off x="9959614" y="7645407"/>
              <a:ext cx="2957935" cy="340143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157"/>
                </a:lnSpc>
                <a:spcBef>
                  <a:spcPct val="0"/>
                </a:spcBef>
              </a:pPr>
              <a:r>
                <a:rPr lang="en-US" sz="1540">
                  <a:solidFill>
                    <a:srgbClr val="000000"/>
                  </a:solidFill>
                  <a:latin typeface="Open Sans 2"/>
                  <a:ea typeface="Open Sans 2"/>
                  <a:cs typeface="Open Sans 2"/>
                  <a:sym typeface="Open Sans 2"/>
                </a:rPr>
                <a:t>PLAYER SE APROXIMOU</a:t>
              </a:r>
            </a:p>
          </p:txBody>
        </p:sp>
        <p:grpSp>
          <p:nvGrpSpPr>
            <p:cNvPr name="Group 68" id="68"/>
            <p:cNvGrpSpPr/>
            <p:nvPr/>
          </p:nvGrpSpPr>
          <p:grpSpPr>
            <a:xfrm rot="-8343304">
              <a:off x="5740500" y="8422888"/>
              <a:ext cx="2932793" cy="756002"/>
              <a:chOff x="0" y="0"/>
              <a:chExt cx="1904091" cy="490827"/>
            </a:xfrm>
          </p:grpSpPr>
          <p:sp>
            <p:nvSpPr>
              <p:cNvPr name="Freeform 69" id="69"/>
              <p:cNvSpPr/>
              <p:nvPr/>
            </p:nvSpPr>
            <p:spPr>
              <a:xfrm flipH="false" flipV="false" rot="0">
                <a:off x="0" y="0"/>
                <a:ext cx="1904091" cy="490827"/>
              </a:xfrm>
              <a:custGeom>
                <a:avLst/>
                <a:gdLst/>
                <a:ahLst/>
                <a:cxnLst/>
                <a:rect r="r" b="b" t="t" l="l"/>
                <a:pathLst>
                  <a:path h="490827" w="1904091">
                    <a:moveTo>
                      <a:pt x="1904091" y="245414"/>
                    </a:moveTo>
                    <a:lnTo>
                      <a:pt x="1497691" y="0"/>
                    </a:lnTo>
                    <a:lnTo>
                      <a:pt x="1497691" y="203200"/>
                    </a:lnTo>
                    <a:lnTo>
                      <a:pt x="0" y="203200"/>
                    </a:lnTo>
                    <a:lnTo>
                      <a:pt x="0" y="287627"/>
                    </a:lnTo>
                    <a:lnTo>
                      <a:pt x="1497691" y="287627"/>
                    </a:lnTo>
                    <a:lnTo>
                      <a:pt x="1497691" y="490827"/>
                    </a:lnTo>
                    <a:lnTo>
                      <a:pt x="1904091" y="245414"/>
                    </a:lnTo>
                    <a:close/>
                  </a:path>
                </a:pathLst>
              </a:custGeom>
              <a:solidFill>
                <a:srgbClr val="FFFFFF"/>
              </a:solidFill>
              <a:ln w="38100" cap="sq">
                <a:solidFill>
                  <a:srgbClr val="000000"/>
                </a:solidFill>
                <a:prstDash val="solid"/>
                <a:miter/>
              </a:ln>
            </p:spPr>
          </p:sp>
          <p:sp>
            <p:nvSpPr>
              <p:cNvPr name="TextBox 70" id="70"/>
              <p:cNvSpPr txBox="true"/>
              <p:nvPr/>
            </p:nvSpPr>
            <p:spPr>
              <a:xfrm>
                <a:off x="0" y="165100"/>
                <a:ext cx="1802491" cy="122527"/>
              </a:xfrm>
              <a:prstGeom prst="rect">
                <a:avLst/>
              </a:prstGeom>
            </p:spPr>
            <p:txBody>
              <a:bodyPr anchor="ctr" rtlCol="false" tIns="68209" lIns="68209" bIns="68209" rIns="68209"/>
              <a:lstStyle/>
              <a:p>
                <a:pPr algn="ctr">
                  <a:lnSpc>
                    <a:spcPts val="2659"/>
                  </a:lnSpc>
                  <a:spcBef>
                    <a:spcPct val="0"/>
                  </a:spcBef>
                </a:pPr>
              </a:p>
            </p:txBody>
          </p:sp>
        </p:grpSp>
        <p:grpSp>
          <p:nvGrpSpPr>
            <p:cNvPr name="Group 71" id="71"/>
            <p:cNvGrpSpPr/>
            <p:nvPr/>
          </p:nvGrpSpPr>
          <p:grpSpPr>
            <a:xfrm rot="2426301">
              <a:off x="6392662" y="7836686"/>
              <a:ext cx="2811967" cy="756002"/>
              <a:chOff x="0" y="0"/>
              <a:chExt cx="1825645" cy="490827"/>
            </a:xfrm>
          </p:grpSpPr>
          <p:sp>
            <p:nvSpPr>
              <p:cNvPr name="Freeform 72" id="72"/>
              <p:cNvSpPr/>
              <p:nvPr/>
            </p:nvSpPr>
            <p:spPr>
              <a:xfrm flipH="false" flipV="false" rot="0">
                <a:off x="0" y="0"/>
                <a:ext cx="1825645" cy="490827"/>
              </a:xfrm>
              <a:custGeom>
                <a:avLst/>
                <a:gdLst/>
                <a:ahLst/>
                <a:cxnLst/>
                <a:rect r="r" b="b" t="t" l="l"/>
                <a:pathLst>
                  <a:path h="490827" w="1825645">
                    <a:moveTo>
                      <a:pt x="1825645" y="245414"/>
                    </a:moveTo>
                    <a:lnTo>
                      <a:pt x="1419245" y="0"/>
                    </a:lnTo>
                    <a:lnTo>
                      <a:pt x="1419245" y="203200"/>
                    </a:lnTo>
                    <a:lnTo>
                      <a:pt x="0" y="203200"/>
                    </a:lnTo>
                    <a:lnTo>
                      <a:pt x="0" y="287627"/>
                    </a:lnTo>
                    <a:lnTo>
                      <a:pt x="1419245" y="287627"/>
                    </a:lnTo>
                    <a:lnTo>
                      <a:pt x="1419245" y="490827"/>
                    </a:lnTo>
                    <a:lnTo>
                      <a:pt x="1825645" y="245414"/>
                    </a:lnTo>
                    <a:close/>
                  </a:path>
                </a:pathLst>
              </a:custGeom>
              <a:solidFill>
                <a:srgbClr val="FFFFFF"/>
              </a:solidFill>
              <a:ln w="38100" cap="sq">
                <a:solidFill>
                  <a:srgbClr val="000000"/>
                </a:solidFill>
                <a:prstDash val="solid"/>
                <a:miter/>
              </a:ln>
            </p:spPr>
          </p:sp>
          <p:sp>
            <p:nvSpPr>
              <p:cNvPr name="TextBox 73" id="73"/>
              <p:cNvSpPr txBox="true"/>
              <p:nvPr/>
            </p:nvSpPr>
            <p:spPr>
              <a:xfrm>
                <a:off x="0" y="165100"/>
                <a:ext cx="1724045" cy="122527"/>
              </a:xfrm>
              <a:prstGeom prst="rect">
                <a:avLst/>
              </a:prstGeom>
            </p:spPr>
            <p:txBody>
              <a:bodyPr anchor="ctr" rtlCol="false" tIns="68209" lIns="68209" bIns="68209" rIns="68209"/>
              <a:lstStyle/>
              <a:p>
                <a:pPr algn="ctr">
                  <a:lnSpc>
                    <a:spcPts val="2659"/>
                  </a:lnSpc>
                  <a:spcBef>
                    <a:spcPct val="0"/>
                  </a:spcBef>
                </a:pPr>
              </a:p>
            </p:txBody>
          </p:sp>
        </p:grpSp>
        <p:sp>
          <p:nvSpPr>
            <p:cNvPr name="TextBox 74" id="74"/>
            <p:cNvSpPr txBox="true"/>
            <p:nvPr/>
          </p:nvSpPr>
          <p:spPr>
            <a:xfrm rot="2491946">
              <a:off x="5456548" y="9146410"/>
              <a:ext cx="2957935" cy="340143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157"/>
                </a:lnSpc>
                <a:spcBef>
                  <a:spcPct val="0"/>
                </a:spcBef>
              </a:pPr>
              <a:r>
                <a:rPr lang="en-US" sz="1540">
                  <a:solidFill>
                    <a:srgbClr val="000000"/>
                  </a:solidFill>
                  <a:latin typeface="Open Sans 2"/>
                  <a:ea typeface="Open Sans 2"/>
                  <a:cs typeface="Open Sans 2"/>
                  <a:sym typeface="Open Sans 2"/>
                </a:rPr>
                <a:t>PLAYER SE AFASTOU</a:t>
              </a:r>
            </a:p>
          </p:txBody>
        </p:sp>
        <p:sp>
          <p:nvSpPr>
            <p:cNvPr name="TextBox 75" id="75"/>
            <p:cNvSpPr txBox="true"/>
            <p:nvPr/>
          </p:nvSpPr>
          <p:spPr>
            <a:xfrm rot="2491946">
              <a:off x="6578869" y="7564511"/>
              <a:ext cx="2957935" cy="340143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157"/>
                </a:lnSpc>
                <a:spcBef>
                  <a:spcPct val="0"/>
                </a:spcBef>
              </a:pPr>
              <a:r>
                <a:rPr lang="en-US" sz="1540">
                  <a:solidFill>
                    <a:srgbClr val="000000"/>
                  </a:solidFill>
                  <a:latin typeface="Open Sans 2"/>
                  <a:ea typeface="Open Sans 2"/>
                  <a:cs typeface="Open Sans 2"/>
                  <a:sym typeface="Open Sans 2"/>
                </a:rPr>
                <a:t>PLAYER SAIU DE BAIXO</a:t>
              </a:r>
            </a:p>
          </p:txBody>
        </p:sp>
      </p:grp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9259" r="0" b="-9259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396567" y="3393018"/>
            <a:ext cx="11765491" cy="5092126"/>
          </a:xfrm>
          <a:custGeom>
            <a:avLst/>
            <a:gdLst/>
            <a:ahLst/>
            <a:cxnLst/>
            <a:rect r="r" b="b" t="t" l="l"/>
            <a:pathLst>
              <a:path h="5092126" w="11765491">
                <a:moveTo>
                  <a:pt x="0" y="0"/>
                </a:moveTo>
                <a:lnTo>
                  <a:pt x="11765491" y="0"/>
                </a:lnTo>
                <a:lnTo>
                  <a:pt x="11765491" y="5092125"/>
                </a:lnTo>
                <a:lnTo>
                  <a:pt x="0" y="509212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1028700" y="1162399"/>
            <a:ext cx="16348161" cy="111940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7563"/>
              </a:lnSpc>
              <a:spcBef>
                <a:spcPct val="0"/>
              </a:spcBef>
            </a:pPr>
            <a:r>
              <a:rPr lang="en-US" sz="10360" spc="-901">
                <a:solidFill>
                  <a:srgbClr val="EDEDED"/>
                </a:solidFill>
                <a:latin typeface="Neue Machina"/>
                <a:ea typeface="Neue Machina"/>
                <a:cs typeface="Neue Machina"/>
                <a:sym typeface="Neue Machina"/>
              </a:rPr>
              <a:t>Trechos Interessantes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028700" y="2256468"/>
            <a:ext cx="8445296" cy="54191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0" indent="0" lvl="0">
              <a:lnSpc>
                <a:spcPts val="4238"/>
              </a:lnSpc>
            </a:pPr>
            <a:r>
              <a:rPr lang="en-US" sz="3531">
                <a:solidFill>
                  <a:srgbClr val="FFFFFF"/>
                </a:solidFill>
                <a:latin typeface="Neue Machina Light"/>
                <a:ea typeface="Neue Machina Light"/>
                <a:cs typeface="Neue Machina Light"/>
                <a:sym typeface="Neue Machina Light"/>
              </a:rPr>
              <a:t>ATUALIZAÇÃO DOS ELEMENTOS</a:t>
            </a:r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9259" r="0" b="-9259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282496" y="3369879"/>
            <a:ext cx="6851646" cy="5888421"/>
          </a:xfrm>
          <a:custGeom>
            <a:avLst/>
            <a:gdLst/>
            <a:ahLst/>
            <a:cxnLst/>
            <a:rect r="r" b="b" t="t" l="l"/>
            <a:pathLst>
              <a:path h="5888421" w="6851646">
                <a:moveTo>
                  <a:pt x="0" y="0"/>
                </a:moveTo>
                <a:lnTo>
                  <a:pt x="6851646" y="0"/>
                </a:lnTo>
                <a:lnTo>
                  <a:pt x="6851646" y="5888421"/>
                </a:lnTo>
                <a:lnTo>
                  <a:pt x="0" y="5888421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-108246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9828650" y="3406238"/>
            <a:ext cx="6220920" cy="5815704"/>
          </a:xfrm>
          <a:custGeom>
            <a:avLst/>
            <a:gdLst/>
            <a:ahLst/>
            <a:cxnLst/>
            <a:rect r="r" b="b" t="t" l="l"/>
            <a:pathLst>
              <a:path h="5815704" w="6220920">
                <a:moveTo>
                  <a:pt x="0" y="0"/>
                </a:moveTo>
                <a:lnTo>
                  <a:pt x="6220920" y="0"/>
                </a:lnTo>
                <a:lnTo>
                  <a:pt x="6220920" y="5815704"/>
                </a:lnTo>
                <a:lnTo>
                  <a:pt x="0" y="581570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-91355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1028700" y="1162399"/>
            <a:ext cx="16348161" cy="111940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7563"/>
              </a:lnSpc>
              <a:spcBef>
                <a:spcPct val="0"/>
              </a:spcBef>
            </a:pPr>
            <a:r>
              <a:rPr lang="en-US" sz="10360" spc="-901">
                <a:solidFill>
                  <a:srgbClr val="EDEDED"/>
                </a:solidFill>
                <a:latin typeface="Neue Machina"/>
                <a:ea typeface="Neue Machina"/>
                <a:cs typeface="Neue Machina"/>
                <a:sym typeface="Neue Machina"/>
              </a:rPr>
              <a:t>Trechos Interessantes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028700" y="2256468"/>
            <a:ext cx="8445296" cy="54191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0" indent="0" lvl="0">
              <a:lnSpc>
                <a:spcPts val="4238"/>
              </a:lnSpc>
            </a:pPr>
            <a:r>
              <a:rPr lang="en-US" sz="3531">
                <a:solidFill>
                  <a:srgbClr val="FFFFFF"/>
                </a:solidFill>
                <a:latin typeface="Neue Machina Light"/>
                <a:ea typeface="Neue Machina Light"/>
                <a:cs typeface="Neue Machina Light"/>
                <a:sym typeface="Neue Machina Light"/>
              </a:rPr>
              <a:t>ATUALIZAÇÃO DOS ELEMENTOS</a:t>
            </a:r>
          </a:p>
        </p:txBody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9259" r="0" b="-9259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028700" y="3939039"/>
            <a:ext cx="7024332" cy="4004625"/>
          </a:xfrm>
          <a:custGeom>
            <a:avLst/>
            <a:gdLst/>
            <a:ahLst/>
            <a:cxnLst/>
            <a:rect r="r" b="b" t="t" l="l"/>
            <a:pathLst>
              <a:path h="4004625" w="7024332">
                <a:moveTo>
                  <a:pt x="0" y="0"/>
                </a:moveTo>
                <a:lnTo>
                  <a:pt x="7024332" y="0"/>
                </a:lnTo>
                <a:lnTo>
                  <a:pt x="7024332" y="4004624"/>
                </a:lnTo>
                <a:lnTo>
                  <a:pt x="0" y="400462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-148079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1028700" y="1162399"/>
            <a:ext cx="16348161" cy="111940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7563"/>
              </a:lnSpc>
              <a:spcBef>
                <a:spcPct val="0"/>
              </a:spcBef>
            </a:pPr>
            <a:r>
              <a:rPr lang="en-US" sz="10360" spc="-901">
                <a:solidFill>
                  <a:srgbClr val="EDEDED"/>
                </a:solidFill>
                <a:latin typeface="Neue Machina"/>
                <a:ea typeface="Neue Machina"/>
                <a:cs typeface="Neue Machina"/>
                <a:sym typeface="Neue Machina"/>
              </a:rPr>
              <a:t>Trechos Interessantes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028700" y="2256468"/>
            <a:ext cx="8445296" cy="54191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0" indent="0" lvl="0">
              <a:lnSpc>
                <a:spcPts val="4238"/>
              </a:lnSpc>
            </a:pPr>
            <a:r>
              <a:rPr lang="en-US" sz="3531">
                <a:solidFill>
                  <a:srgbClr val="FFFFFF"/>
                </a:solidFill>
                <a:latin typeface="Neue Machina Light"/>
                <a:ea typeface="Neue Machina Light"/>
                <a:cs typeface="Neue Machina Light"/>
                <a:sym typeface="Neue Machina Light"/>
              </a:rPr>
              <a:t>ATUALIZAÇÃO DO PLAYER: DANO</a:t>
            </a:r>
          </a:p>
        </p:txBody>
      </p:sp>
      <p:sp>
        <p:nvSpPr>
          <p:cNvPr name="Freeform 6" id="6"/>
          <p:cNvSpPr/>
          <p:nvPr/>
        </p:nvSpPr>
        <p:spPr>
          <a:xfrm flipH="false" flipV="false" rot="0">
            <a:off x="10235996" y="3748539"/>
            <a:ext cx="5745648" cy="4850560"/>
          </a:xfrm>
          <a:custGeom>
            <a:avLst/>
            <a:gdLst/>
            <a:ahLst/>
            <a:cxnLst/>
            <a:rect r="r" b="b" t="t" l="l"/>
            <a:pathLst>
              <a:path h="4850560" w="5745648">
                <a:moveTo>
                  <a:pt x="0" y="0"/>
                </a:moveTo>
                <a:lnTo>
                  <a:pt x="5745648" y="0"/>
                </a:lnTo>
                <a:lnTo>
                  <a:pt x="5745648" y="4850560"/>
                </a:lnTo>
                <a:lnTo>
                  <a:pt x="0" y="485056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-67531" r="0" b="0"/>
            </a:stretch>
          </a:blipFill>
        </p:spPr>
      </p: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9259" r="0" b="-9259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2331667" y="3279837"/>
            <a:ext cx="5292844" cy="5476820"/>
          </a:xfrm>
          <a:custGeom>
            <a:avLst/>
            <a:gdLst/>
            <a:ahLst/>
            <a:cxnLst/>
            <a:rect r="r" b="b" t="t" l="l"/>
            <a:pathLst>
              <a:path h="5476820" w="5292844">
                <a:moveTo>
                  <a:pt x="0" y="0"/>
                </a:moveTo>
                <a:lnTo>
                  <a:pt x="5292844" y="0"/>
                </a:lnTo>
                <a:lnTo>
                  <a:pt x="5292844" y="5476820"/>
                </a:lnTo>
                <a:lnTo>
                  <a:pt x="0" y="547682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7086350" y="3191972"/>
            <a:ext cx="4997667" cy="5564685"/>
          </a:xfrm>
          <a:custGeom>
            <a:avLst/>
            <a:gdLst/>
            <a:ahLst/>
            <a:cxnLst/>
            <a:rect r="r" b="b" t="t" l="l"/>
            <a:pathLst>
              <a:path h="5564685" w="4997667">
                <a:moveTo>
                  <a:pt x="0" y="0"/>
                </a:moveTo>
                <a:lnTo>
                  <a:pt x="4997667" y="0"/>
                </a:lnTo>
                <a:lnTo>
                  <a:pt x="4997667" y="5564685"/>
                </a:lnTo>
                <a:lnTo>
                  <a:pt x="0" y="5564685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324327" y="3464902"/>
            <a:ext cx="6514558" cy="3357196"/>
          </a:xfrm>
          <a:custGeom>
            <a:avLst/>
            <a:gdLst/>
            <a:ahLst/>
            <a:cxnLst/>
            <a:rect r="r" b="b" t="t" l="l"/>
            <a:pathLst>
              <a:path h="3357196" w="6514558">
                <a:moveTo>
                  <a:pt x="0" y="0"/>
                </a:moveTo>
                <a:lnTo>
                  <a:pt x="6514558" y="0"/>
                </a:lnTo>
                <a:lnTo>
                  <a:pt x="6514558" y="3357196"/>
                </a:lnTo>
                <a:lnTo>
                  <a:pt x="0" y="3357196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1028700" y="1162399"/>
            <a:ext cx="16348161" cy="111940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7563"/>
              </a:lnSpc>
              <a:spcBef>
                <a:spcPct val="0"/>
              </a:spcBef>
            </a:pPr>
            <a:r>
              <a:rPr lang="en-US" sz="10360" spc="-901">
                <a:solidFill>
                  <a:srgbClr val="EDEDED"/>
                </a:solidFill>
                <a:latin typeface="Neue Machina"/>
                <a:ea typeface="Neue Machina"/>
                <a:cs typeface="Neue Machina"/>
                <a:sym typeface="Neue Machina"/>
              </a:rPr>
              <a:t>Trechos Interessantes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028700" y="2256468"/>
            <a:ext cx="8445296" cy="54191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0" indent="0" lvl="0">
              <a:lnSpc>
                <a:spcPts val="4238"/>
              </a:lnSpc>
            </a:pPr>
            <a:r>
              <a:rPr lang="en-US" sz="3531">
                <a:solidFill>
                  <a:srgbClr val="FFFFFF"/>
                </a:solidFill>
                <a:latin typeface="Neue Machina Light"/>
                <a:ea typeface="Neue Machina Light"/>
                <a:cs typeface="Neue Machina Light"/>
                <a:sym typeface="Neue Machina Light"/>
              </a:rPr>
              <a:t>ATUALIZAÇÃO DO PLAYER: ATAQUE</a:t>
            </a:r>
          </a:p>
        </p:txBody>
      </p:sp>
    </p:spTree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9259" r="0" b="-9259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152609" y="3004754"/>
            <a:ext cx="4515151" cy="6655450"/>
          </a:xfrm>
          <a:custGeom>
            <a:avLst/>
            <a:gdLst/>
            <a:ahLst/>
            <a:cxnLst/>
            <a:rect r="r" b="b" t="t" l="l"/>
            <a:pathLst>
              <a:path h="6655450" w="4515151">
                <a:moveTo>
                  <a:pt x="0" y="0"/>
                </a:moveTo>
                <a:lnTo>
                  <a:pt x="4515151" y="0"/>
                </a:lnTo>
                <a:lnTo>
                  <a:pt x="4515151" y="6655451"/>
                </a:lnTo>
                <a:lnTo>
                  <a:pt x="0" y="6655451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6289413" y="3004754"/>
            <a:ext cx="3828356" cy="6655450"/>
          </a:xfrm>
          <a:custGeom>
            <a:avLst/>
            <a:gdLst/>
            <a:ahLst/>
            <a:cxnLst/>
            <a:rect r="r" b="b" t="t" l="l"/>
            <a:pathLst>
              <a:path h="6655450" w="3828356">
                <a:moveTo>
                  <a:pt x="0" y="0"/>
                </a:moveTo>
                <a:lnTo>
                  <a:pt x="3828356" y="0"/>
                </a:lnTo>
                <a:lnTo>
                  <a:pt x="3828356" y="6655451"/>
                </a:lnTo>
                <a:lnTo>
                  <a:pt x="0" y="6655451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0736894" y="3454914"/>
            <a:ext cx="7136452" cy="5155173"/>
          </a:xfrm>
          <a:custGeom>
            <a:avLst/>
            <a:gdLst/>
            <a:ahLst/>
            <a:cxnLst/>
            <a:rect r="r" b="b" t="t" l="l"/>
            <a:pathLst>
              <a:path h="5155173" w="7136452">
                <a:moveTo>
                  <a:pt x="0" y="0"/>
                </a:moveTo>
                <a:lnTo>
                  <a:pt x="7136452" y="0"/>
                </a:lnTo>
                <a:lnTo>
                  <a:pt x="7136452" y="5155172"/>
                </a:lnTo>
                <a:lnTo>
                  <a:pt x="0" y="5155172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1028700" y="1162399"/>
            <a:ext cx="16348161" cy="111940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7563"/>
              </a:lnSpc>
              <a:spcBef>
                <a:spcPct val="0"/>
              </a:spcBef>
            </a:pPr>
            <a:r>
              <a:rPr lang="en-US" sz="10360" spc="-901">
                <a:solidFill>
                  <a:srgbClr val="EDEDED"/>
                </a:solidFill>
                <a:latin typeface="Neue Machina"/>
                <a:ea typeface="Neue Machina"/>
                <a:cs typeface="Neue Machina"/>
                <a:sym typeface="Neue Machina"/>
              </a:rPr>
              <a:t>Trechos Interessantes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028700" y="2256468"/>
            <a:ext cx="8445296" cy="54191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0" indent="0" lvl="0">
              <a:lnSpc>
                <a:spcPts val="4238"/>
              </a:lnSpc>
            </a:pPr>
            <a:r>
              <a:rPr lang="en-US" sz="3531">
                <a:solidFill>
                  <a:srgbClr val="FFFFFF"/>
                </a:solidFill>
                <a:latin typeface="Neue Machina Light"/>
                <a:ea typeface="Neue Machina Light"/>
                <a:cs typeface="Neue Machina Light"/>
                <a:sym typeface="Neue Machina Light"/>
              </a:rPr>
              <a:t>ATUALIZAÇÃO DO BOSS</a:t>
            </a:r>
          </a:p>
        </p:txBody>
      </p:sp>
    </p:spTree>
  </p:cSld>
  <p:clrMapOvr>
    <a:masterClrMapping/>
  </p:clrMapOvr>
</p:sld>
</file>

<file path=ppt/slides/slide1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9259" r="0" b="-9259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361950" y="3835914"/>
            <a:ext cx="7136452" cy="5155173"/>
          </a:xfrm>
          <a:custGeom>
            <a:avLst/>
            <a:gdLst/>
            <a:ahLst/>
            <a:cxnLst/>
            <a:rect r="r" b="b" t="t" l="l"/>
            <a:pathLst>
              <a:path h="5155173" w="7136452">
                <a:moveTo>
                  <a:pt x="0" y="0"/>
                </a:moveTo>
                <a:lnTo>
                  <a:pt x="7136452" y="0"/>
                </a:lnTo>
                <a:lnTo>
                  <a:pt x="7136452" y="5155172"/>
                </a:lnTo>
                <a:lnTo>
                  <a:pt x="0" y="5155172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8317777" y="3693039"/>
            <a:ext cx="4087394" cy="5639562"/>
          </a:xfrm>
          <a:custGeom>
            <a:avLst/>
            <a:gdLst/>
            <a:ahLst/>
            <a:cxnLst/>
            <a:rect r="r" b="b" t="t" l="l"/>
            <a:pathLst>
              <a:path h="5639562" w="4087394">
                <a:moveTo>
                  <a:pt x="0" y="0"/>
                </a:moveTo>
                <a:lnTo>
                  <a:pt x="4087394" y="0"/>
                </a:lnTo>
                <a:lnTo>
                  <a:pt x="4087394" y="5639561"/>
                </a:lnTo>
                <a:lnTo>
                  <a:pt x="0" y="5639561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-64404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1028700" y="1162399"/>
            <a:ext cx="16348161" cy="111940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7563"/>
              </a:lnSpc>
              <a:spcBef>
                <a:spcPct val="0"/>
              </a:spcBef>
            </a:pPr>
            <a:r>
              <a:rPr lang="en-US" sz="10360" spc="-901">
                <a:solidFill>
                  <a:srgbClr val="EDEDED"/>
                </a:solidFill>
                <a:latin typeface="Neue Machina"/>
                <a:ea typeface="Neue Machina"/>
                <a:cs typeface="Neue Machina"/>
                <a:sym typeface="Neue Machina"/>
              </a:rPr>
              <a:t>Trechos Interessantes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028700" y="2256468"/>
            <a:ext cx="8445296" cy="54191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0" indent="0" lvl="0">
              <a:lnSpc>
                <a:spcPts val="4238"/>
              </a:lnSpc>
            </a:pPr>
            <a:r>
              <a:rPr lang="en-US" sz="3531">
                <a:solidFill>
                  <a:srgbClr val="FFFFFF"/>
                </a:solidFill>
                <a:latin typeface="Neue Machina Light"/>
                <a:ea typeface="Neue Machina Light"/>
                <a:cs typeface="Neue Machina Light"/>
                <a:sym typeface="Neue Machina Light"/>
              </a:rPr>
              <a:t>ATUALIZAÇÃO DO PLAYER: ATAQUE</a:t>
            </a:r>
          </a:p>
        </p:txBody>
      </p:sp>
      <p:sp>
        <p:nvSpPr>
          <p:cNvPr name="Freeform 7" id="7"/>
          <p:cNvSpPr/>
          <p:nvPr/>
        </p:nvSpPr>
        <p:spPr>
          <a:xfrm flipH="false" flipV="false" rot="0">
            <a:off x="13113421" y="4374739"/>
            <a:ext cx="4768477" cy="4276160"/>
          </a:xfrm>
          <a:custGeom>
            <a:avLst/>
            <a:gdLst/>
            <a:ahLst/>
            <a:cxnLst/>
            <a:rect r="r" b="b" t="t" l="l"/>
            <a:pathLst>
              <a:path h="4276160" w="4768477">
                <a:moveTo>
                  <a:pt x="0" y="0"/>
                </a:moveTo>
                <a:lnTo>
                  <a:pt x="4768477" y="0"/>
                </a:lnTo>
                <a:lnTo>
                  <a:pt x="4768477" y="4276161"/>
                </a:lnTo>
                <a:lnTo>
                  <a:pt x="0" y="4276161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-998" t="-158001" r="-998" b="0"/>
            </a:stretch>
          </a:blipFill>
        </p:spPr>
      </p:sp>
    </p:spTree>
  </p:cSld>
  <p:clrMapOvr>
    <a:masterClrMapping/>
  </p:clrMapOvr>
</p:sld>
</file>

<file path=ppt/slides/slide1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83333" r="0" b="-83333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2214479" y="3028240"/>
            <a:ext cx="13859043" cy="28885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1161"/>
              </a:lnSpc>
            </a:pPr>
            <a:r>
              <a:rPr lang="en-US" sz="10942">
                <a:solidFill>
                  <a:srgbClr val="FFFFFF"/>
                </a:solidFill>
                <a:latin typeface="Neue Machina"/>
                <a:ea typeface="Neue Machina"/>
                <a:cs typeface="Neue Machina"/>
                <a:sym typeface="Neue Machina"/>
              </a:rPr>
              <a:t>Obrigado por </a:t>
            </a:r>
          </a:p>
          <a:p>
            <a:pPr algn="ctr">
              <a:lnSpc>
                <a:spcPts val="11161"/>
              </a:lnSpc>
            </a:pPr>
            <a:r>
              <a:rPr lang="en-US" sz="10942">
                <a:solidFill>
                  <a:srgbClr val="FFFFFF"/>
                </a:solidFill>
                <a:latin typeface="Neue Machina"/>
                <a:ea typeface="Neue Machina"/>
                <a:cs typeface="Neue Machina"/>
                <a:sym typeface="Neue Machina"/>
              </a:rPr>
              <a:t>jogar</a:t>
            </a:r>
          </a:p>
        </p:txBody>
      </p:sp>
      <p:sp>
        <p:nvSpPr>
          <p:cNvPr name="Freeform 4" id="4"/>
          <p:cNvSpPr/>
          <p:nvPr/>
        </p:nvSpPr>
        <p:spPr>
          <a:xfrm flipH="false" flipV="false" rot="0">
            <a:off x="6413012" y="6488492"/>
            <a:ext cx="3450316" cy="3001775"/>
          </a:xfrm>
          <a:custGeom>
            <a:avLst/>
            <a:gdLst/>
            <a:ahLst/>
            <a:cxnLst/>
            <a:rect r="r" b="b" t="t" l="l"/>
            <a:pathLst>
              <a:path h="3001775" w="3450316">
                <a:moveTo>
                  <a:pt x="0" y="0"/>
                </a:moveTo>
                <a:lnTo>
                  <a:pt x="3450316" y="0"/>
                </a:lnTo>
                <a:lnTo>
                  <a:pt x="3450316" y="3001775"/>
                </a:lnTo>
                <a:lnTo>
                  <a:pt x="0" y="300177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DAG7Jy9ov9o</dc:identifier>
  <dcterms:modified xsi:type="dcterms:W3CDTF">2011-08-01T06:04:30Z</dcterms:modified>
  <cp:revision>1</cp:revision>
  <dc:title>P6</dc:title>
</cp:coreProperties>
</file>